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nsS vs Genie" id="{cbbf4f09-b915-10b1-ec72-9e71828b737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headline: Genie is the engine; LensS is the product. Walk the six cards in order, strongest first: trust, one assistant, proactive insight, safety, audit, secure and cost-aware. Close with the Genie-app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68680"/>
            <a:ext cx="34747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panel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Eyebrow"/>
          <p:cNvSpPr txBox="1"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LENSS COLLECTIONS INTELLIGENCE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8686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bg1"/>
                </a:solidFill>
              </a:rPr>
              <a:t>Genie answers questions. LensS runs collections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457200" y="2514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Genie is the engine inside LensS. Everything around it makes every answer trusted, actionable, safe and measurable for collections leaders.</a:t>
            </a:r>
            <a:endParaRPr lang="en-US" sz="1300" dirty="0"/>
          </a:p>
        </p:txBody>
      </p:sp>
      <p:sp>
        <p:nvSpPr>
          <p:cNvPr id="6" name="Stat 1 value"/>
          <p:cNvSpPr txBox="1"/>
          <p:nvPr/>
        </p:nvSpPr>
        <p:spPr>
          <a:xfrm>
            <a:off x="45720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94.9%</a:t>
            </a:r>
            <a:endParaRPr lang="en-US" sz="3200" dirty="0"/>
          </a:p>
        </p:txBody>
      </p:sp>
      <p:sp>
        <p:nvSpPr>
          <p:cNvPr id="7" name="Stat 1 label"/>
          <p:cNvSpPr txBox="1"/>
          <p:nvPr/>
        </p:nvSpPr>
        <p:spPr>
          <a:xfrm>
            <a:off x="457200" y="42702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of figures in answers reconciled to the query result</a:t>
            </a:r>
            <a:endParaRPr lang="en-US" sz="1050" dirty="0"/>
          </a:p>
        </p:txBody>
      </p:sp>
      <p:sp>
        <p:nvSpPr>
          <p:cNvPr id="8" name="Stat 2 value"/>
          <p:cNvSpPr txBox="1"/>
          <p:nvPr/>
        </p:nvSpPr>
        <p:spPr>
          <a:xfrm>
            <a:off x="233172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96.5%</a:t>
            </a:r>
            <a:endParaRPr lang="en-US" sz="3200" dirty="0"/>
          </a:p>
        </p:txBody>
      </p:sp>
      <p:sp>
        <p:nvSpPr>
          <p:cNvPr id="9" name="Stat 2 label"/>
          <p:cNvSpPr txBox="1"/>
          <p:nvPr/>
        </p:nvSpPr>
        <p:spPr>
          <a:xfrm>
            <a:off x="2331720" y="42702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groundedness, scored by an independent AI judge</a:t>
            </a:r>
            <a:endParaRPr lang="en-US" sz="1050" dirty="0"/>
          </a:p>
        </p:txBody>
      </p:sp>
      <p:sp>
        <p:nvSpPr>
          <p:cNvPr id="10" name="Stat 3 value"/>
          <p:cNvSpPr txBox="1"/>
          <p:nvPr/>
        </p:nvSpPr>
        <p:spPr>
          <a:xfrm>
            <a:off x="45720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22</a:t>
            </a:r>
            <a:endParaRPr lang="en-US" sz="3200" dirty="0"/>
          </a:p>
        </p:txBody>
      </p:sp>
      <p:sp>
        <p:nvSpPr>
          <p:cNvPr id="11" name="Stat 3 label"/>
          <p:cNvSpPr txBox="1"/>
          <p:nvPr/>
        </p:nvSpPr>
        <p:spPr>
          <a:xfrm>
            <a:off x="457200" y="5504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business rules held as data, in one place</a:t>
            </a:r>
            <a:endParaRPr lang="en-US" sz="1050" dirty="0"/>
          </a:p>
        </p:txBody>
      </p:sp>
      <p:sp>
        <p:nvSpPr>
          <p:cNvPr id="12" name="Stat 4 value"/>
          <p:cNvSpPr txBox="1"/>
          <p:nvPr/>
        </p:nvSpPr>
        <p:spPr>
          <a:xfrm>
            <a:off x="233172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9</a:t>
            </a:r>
            <a:endParaRPr lang="en-US" sz="3200" dirty="0"/>
          </a:p>
        </p:txBody>
      </p:sp>
      <p:sp>
        <p:nvSpPr>
          <p:cNvPr id="13" name="Stat 4 label"/>
          <p:cNvSpPr txBox="1"/>
          <p:nvPr/>
        </p:nvSpPr>
        <p:spPr>
          <a:xfrm>
            <a:off x="2331720" y="5504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audited stages traced for every question</a:t>
            </a:r>
            <a:endParaRPr lang="en-US" sz="1050" dirty="0"/>
          </a:p>
        </p:txBody>
      </p:sp>
      <p:sp>
        <p:nvSpPr>
          <p:cNvPr id="14" name="Footnote"/>
          <p:cNvSpPr txBox="1"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Quality figures from the LensS test environment, on demo data.</a:t>
            </a:r>
            <a:endParaRPr lang="en-US" sz="900" dirty="0"/>
          </a:p>
        </p:txBody>
      </p:sp>
      <p:sp>
        <p:nvSpPr>
          <p:cNvPr id="15" name="Section header"/>
          <p:cNvSpPr txBox="1"/>
          <p:nvPr/>
        </p:nvSpPr>
        <p:spPr>
          <a:xfrm>
            <a:off x="484632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LensS adds on top of Genie</a:t>
            </a:r>
            <a:endParaRPr lang="en-US" sz="2400" dirty="0"/>
          </a:p>
        </p:txBody>
      </p:sp>
      <p:sp>
        <p:nvSpPr>
          <p:cNvPr id="16" name="Section sub"/>
          <p:cNvSpPr txBox="1"/>
          <p:nvPr/>
        </p:nvSpPr>
        <p:spPr>
          <a:xfrm>
            <a:off x="484632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Strongest first. Genie alone gives a question box; LensS is the governed product around it.</a:t>
            </a:r>
            <a:endParaRPr lang="en-US" sz="1200" dirty="0"/>
          </a:p>
        </p:txBody>
      </p:sp>
      <p:sp>
        <p:nvSpPr>
          <p:cNvPr id="17" name="Card 1"/>
          <p:cNvSpPr/>
          <p:nvPr/>
        </p:nvSpPr>
        <p:spPr>
          <a:xfrm>
            <a:off x="4846320" y="137160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Card 1 icon circle"/>
          <p:cNvSpPr/>
          <p:nvPr/>
        </p:nvSpPr>
        <p:spPr>
          <a:xfrm>
            <a:off x="5047488" y="159105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ar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1719072"/>
            <a:ext cx="256032" cy="256032"/>
          </a:xfrm>
          <a:prstGeom prst="rect">
            <a:avLst/>
          </a:prstGeom>
        </p:spPr>
      </p:pic>
      <p:sp>
        <p:nvSpPr>
          <p:cNvPr id="20" name="Card 1 title"/>
          <p:cNvSpPr txBox="1"/>
          <p:nvPr/>
        </p:nvSpPr>
        <p:spPr>
          <a:xfrm>
            <a:off x="57150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Answers you can trust</a:t>
            </a:r>
            <a:endParaRPr lang="en-US" sz="1500" dirty="0"/>
          </a:p>
        </p:txBody>
      </p:sp>
      <p:sp>
        <p:nvSpPr>
          <p:cNvPr id="21" name="Card 1 body"/>
          <p:cNvSpPr txBox="1"/>
          <p:nvPr/>
        </p:nvSpPr>
        <p:spPr>
          <a:xfrm>
            <a:off x="5715000" y="1920240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Certified collections views and 22 rules as data. Every figure is reconciled and judged, and the SQL is shown.</a:t>
            </a:r>
            <a:endParaRPr lang="en-US" sz="1100" dirty="0"/>
          </a:p>
        </p:txBody>
      </p:sp>
      <p:sp>
        <p:nvSpPr>
          <p:cNvPr id="22" name="Card 2"/>
          <p:cNvSpPr/>
          <p:nvPr/>
        </p:nvSpPr>
        <p:spPr>
          <a:xfrm>
            <a:off x="8412480" y="137160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3" name="Card 2 icon circle"/>
          <p:cNvSpPr/>
          <p:nvPr/>
        </p:nvSpPr>
        <p:spPr>
          <a:xfrm>
            <a:off x="8613648" y="159105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Car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1719072"/>
            <a:ext cx="256032" cy="256032"/>
          </a:xfrm>
          <a:prstGeom prst="rect">
            <a:avLst/>
          </a:prstGeom>
        </p:spPr>
      </p:pic>
      <p:sp>
        <p:nvSpPr>
          <p:cNvPr id="25" name="Card 2 title"/>
          <p:cNvSpPr txBox="1"/>
          <p:nvPr/>
        </p:nvSpPr>
        <p:spPr>
          <a:xfrm>
            <a:off x="928116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Quick + Deep in one chat</a:t>
            </a:r>
            <a:endParaRPr lang="en-US" sz="1500" dirty="0"/>
          </a:p>
        </p:txBody>
      </p:sp>
      <p:sp>
        <p:nvSpPr>
          <p:cNvPr id="26" name="Card 2 body"/>
          <p:cNvSpPr txBox="1"/>
          <p:nvPr/>
        </p:nvSpPr>
        <p:spPr>
          <a:xfrm>
            <a:off x="9281160" y="1920240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router reads the conversation, picks quick or deep, and shares context so “not enough” gets more.</a:t>
            </a:r>
            <a:endParaRPr lang="en-US" sz="1100" dirty="0"/>
          </a:p>
        </p:txBody>
      </p:sp>
      <p:sp>
        <p:nvSpPr>
          <p:cNvPr id="27" name="Card 3"/>
          <p:cNvSpPr/>
          <p:nvPr/>
        </p:nvSpPr>
        <p:spPr>
          <a:xfrm>
            <a:off x="4846320" y="2761488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Card 3 icon circle"/>
          <p:cNvSpPr/>
          <p:nvPr/>
        </p:nvSpPr>
        <p:spPr>
          <a:xfrm>
            <a:off x="5047488" y="29809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Car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3108960"/>
            <a:ext cx="256032" cy="256032"/>
          </a:xfrm>
          <a:prstGeom prst="rect">
            <a:avLst/>
          </a:prstGeom>
        </p:spPr>
      </p:pic>
      <p:sp>
        <p:nvSpPr>
          <p:cNvPr id="30" name="Card 3 title"/>
          <p:cNvSpPr txBox="1"/>
          <p:nvPr/>
        </p:nvSpPr>
        <p:spPr>
          <a:xfrm>
            <a:off x="5715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Insight before anyone asks</a:t>
            </a:r>
            <a:endParaRPr lang="en-US" sz="1500" dirty="0"/>
          </a:p>
        </p:txBody>
      </p:sp>
      <p:sp>
        <p:nvSpPr>
          <p:cNvPr id="31" name="Card 3 body"/>
          <p:cNvSpPr txBox="1"/>
          <p:nvPr/>
        </p:nvSpPr>
        <p:spPr>
          <a:xfrm>
            <a:off x="5715000" y="3310128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Target outlook, promises, action queues and the top 100 accounts. Every figure opens its accounts.</a:t>
            </a:r>
            <a:endParaRPr lang="en-US" sz="1100" dirty="0"/>
          </a:p>
        </p:txBody>
      </p:sp>
      <p:sp>
        <p:nvSpPr>
          <p:cNvPr id="32" name="Card 4"/>
          <p:cNvSpPr/>
          <p:nvPr/>
        </p:nvSpPr>
        <p:spPr>
          <a:xfrm>
            <a:off x="8412480" y="2761488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33" name="Card 4 icon circle"/>
          <p:cNvSpPr/>
          <p:nvPr/>
        </p:nvSpPr>
        <p:spPr>
          <a:xfrm>
            <a:off x="8613648" y="29809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Card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3108960"/>
            <a:ext cx="256032" cy="256032"/>
          </a:xfrm>
          <a:prstGeom prst="rect">
            <a:avLst/>
          </a:prstGeom>
        </p:spPr>
      </p:pic>
      <p:sp>
        <p:nvSpPr>
          <p:cNvPr id="35" name="Card 4 title"/>
          <p:cNvSpPr txBox="1"/>
          <p:nvPr/>
        </p:nvSpPr>
        <p:spPr>
          <a:xfrm>
            <a:off x="92811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Safe by design</a:t>
            </a:r>
            <a:endParaRPr lang="en-US" sz="1500" dirty="0"/>
          </a:p>
        </p:txBody>
      </p:sp>
      <p:sp>
        <p:nvSpPr>
          <p:cNvPr id="36" name="Card 4 body"/>
          <p:cNvSpPr txBox="1"/>
          <p:nvPr/>
        </p:nvSpPr>
        <p:spPr>
          <a:xfrm>
            <a:off x="9281160" y="3310128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Personal data masked, prompt injection blocked, no forecasts stated as fact. A live Responsible AI page.</a:t>
            </a:r>
            <a:endParaRPr lang="en-US" sz="1100" dirty="0"/>
          </a:p>
        </p:txBody>
      </p:sp>
      <p:sp>
        <p:nvSpPr>
          <p:cNvPr id="37" name="Card 5"/>
          <p:cNvSpPr/>
          <p:nvPr/>
        </p:nvSpPr>
        <p:spPr>
          <a:xfrm>
            <a:off x="4846320" y="4151376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38" name="Card 5 icon circle"/>
          <p:cNvSpPr/>
          <p:nvPr/>
        </p:nvSpPr>
        <p:spPr>
          <a:xfrm>
            <a:off x="5047488" y="437083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Card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4498848"/>
            <a:ext cx="256032" cy="256032"/>
          </a:xfrm>
          <a:prstGeom prst="rect">
            <a:avLst/>
          </a:prstGeom>
        </p:spPr>
      </p:pic>
      <p:sp>
        <p:nvSpPr>
          <p:cNvPr id="40" name="Card 5 title"/>
          <p:cNvSpPr txBox="1"/>
          <p:nvPr/>
        </p:nvSpPr>
        <p:spPr>
          <a:xfrm>
            <a:off x="571500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answer audited</a:t>
            </a:r>
            <a:endParaRPr lang="en-US" sz="1500" dirty="0"/>
          </a:p>
        </p:txBody>
      </p:sp>
      <p:sp>
        <p:nvSpPr>
          <p:cNvPr id="41" name="Card 5 body"/>
          <p:cNvSpPr txBox="1"/>
          <p:nvPr/>
        </p:nvSpPr>
        <p:spPr>
          <a:xfrm>
            <a:off x="5715000" y="4700016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9-stage trace per question, quality and drift tracking, automated evaluations and cost by service.</a:t>
            </a:r>
            <a:endParaRPr lang="en-US" sz="1100" dirty="0"/>
          </a:p>
        </p:txBody>
      </p:sp>
      <p:sp>
        <p:nvSpPr>
          <p:cNvPr id="42" name="Card 6"/>
          <p:cNvSpPr/>
          <p:nvPr/>
        </p:nvSpPr>
        <p:spPr>
          <a:xfrm>
            <a:off x="8412480" y="4151376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43" name="Card 6 icon circle"/>
          <p:cNvSpPr/>
          <p:nvPr/>
        </p:nvSpPr>
        <p:spPr>
          <a:xfrm>
            <a:off x="8613648" y="437083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Card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4498848"/>
            <a:ext cx="256032" cy="256032"/>
          </a:xfrm>
          <a:prstGeom prst="rect">
            <a:avLst/>
          </a:prstGeom>
        </p:spPr>
      </p:pic>
      <p:sp>
        <p:nvSpPr>
          <p:cNvPr id="45" name="Card 6 title"/>
          <p:cNvSpPr txBox="1"/>
          <p:nvPr/>
        </p:nvSpPr>
        <p:spPr>
          <a:xfrm>
            <a:off x="928116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Secure and cost-aware</a:t>
            </a:r>
            <a:endParaRPr lang="en-US" sz="1500" dirty="0"/>
          </a:p>
        </p:txBody>
      </p:sp>
      <p:sp>
        <p:nvSpPr>
          <p:cNvPr id="46" name="Card 6 body"/>
          <p:cNvSpPr txBox="1"/>
          <p:nvPr/>
        </p:nvSpPr>
        <p:spPr>
          <a:xfrm>
            <a:off x="9281160" y="4700016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Users get one app permission, never data access. Answer cache, idle stop and one-command deploy.</a:t>
            </a:r>
            <a:endParaRPr lang="en-US" sz="1100" dirty="0"/>
          </a:p>
        </p:txBody>
      </p:sp>
      <p:sp>
        <p:nvSpPr>
          <p:cNvPr id="47" name="Objection band"/>
          <p:cNvSpPr/>
          <p:nvPr/>
        </p:nvSpPr>
        <p:spPr>
          <a:xfrm>
            <a:off x="4846320" y="5586984"/>
            <a:ext cx="685800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48" name="Objection"/>
          <p:cNvSpPr txBox="1"/>
          <p:nvPr/>
        </p:nvSpPr>
        <p:spPr>
          <a:xfrm>
            <a:off x="5074920" y="56967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“Couldn’t we just build a Genie app?”</a:t>
            </a:r>
            <a:endParaRPr lang="en-US" sz="1300" dirty="0"/>
          </a:p>
        </p:txBody>
      </p:sp>
      <p:sp>
        <p:nvSpPr>
          <p:cNvPr id="49" name="Objection answer"/>
          <p:cNvSpPr txBox="1"/>
          <p:nvPr/>
        </p:nvSpPr>
        <p:spPr>
          <a:xfrm>
            <a:off x="7360920" y="5678424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Genie app is the question box. LensS adds the governed data layer, the conversation router, Command Center, guardrails, audit trail and tested delivery a team would otherwise build from scratch.</a:t>
            </a:r>
            <a:endParaRPr lang="en-US" sz="1100" dirty="0"/>
          </a:p>
        </p:txBody>
      </p:sp>
      <p:sp>
        <p:nvSpPr>
          <p:cNvPr id="50" name="Credit"/>
          <p:cNvSpPr txBox="1"/>
          <p:nvPr/>
        </p:nvSpPr>
        <p:spPr>
          <a:xfrm>
            <a:off x="45720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Concentrix Data &amp; Analytics Practice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sS">
  <a:themeElements>
    <a:clrScheme name="LensS">
      <a:dk1>
        <a:srgbClr val="0F172A"/>
      </a:dk1>
      <a:lt1>
        <a:srgbClr val="FFFFFF"/>
      </a:lt1>
      <a:dk2>
        <a:srgbClr val="0B2545"/>
      </a:dk2>
      <a:lt2>
        <a:srgbClr val="F1F5F9"/>
      </a:lt2>
      <a:accent1>
        <a:srgbClr val="0E9384"/>
      </a:accent1>
      <a:accent2>
        <a:srgbClr val="25E2CC"/>
      </a:accent2>
      <a:accent3>
        <a:srgbClr val="13315C"/>
      </a:accent3>
      <a:accent4>
        <a:srgbClr val="C9DCE6"/>
      </a:accent4>
      <a:accent5>
        <a:srgbClr val="64748B"/>
      </a:accent5>
      <a:accent6>
        <a:srgbClr val="E3F8F5"/>
      </a:accent6>
      <a:hlink>
        <a:srgbClr val="0E9384"/>
      </a:hlink>
      <a:folHlink>
        <a:srgbClr val="13315C"/>
      </a:folHlink>
    </a:clrScheme>
    <a:fontScheme name="Len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Concentrix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LensS vs Genie</dc:title>
  <dc:subject>PptxGenJS Presentation</dc:subject>
  <dc:creator>Concentrix Data &amp;amp; Analytics Practice</dc:creator>
  <cp:lastModifiedBy>Concentrix Data &amp;amp; Analytics Practice</cp:lastModifiedBy>
  <cp:revision>1</cp:revision>
  <dcterms:created xsi:type="dcterms:W3CDTF">2026-10-14T15:26:47Z</dcterms:created>
  <dcterms:modified xsi:type="dcterms:W3CDTF">2026-10-14T15:26:47Z</dcterms:modified>
</cp:coreProperties>
</file>