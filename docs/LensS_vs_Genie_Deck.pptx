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message" id="{2b314c9d-318c-d031-6d24-96cc87f735f2}">
          <p14:sldIdLst>
            <p14:sldId id="256"/>
          </p14:sldIdLst>
        </p14:section>
        <p14:section name="The product" id="{9b3cd3a4-2a80-5d81-74c7-912c446c01e5}">
          <p14:sldIdLst>
            <p14:sldId id="257"/>
            <p14:sldId id="258"/>
          </p14:sldIdLst>
        </p14:section>
        <p14:section name="What LensS adds" id="{271cf32c-7763-9304-3f43-183cad657059}">
          <p14:sldIdLst>
            <p14:sldId id="259"/>
            <p14:sldId id="260"/>
            <p14:sldId id="261"/>
          </p14:sldIdLst>
        </p14:section>
        <p14:section name="Side by side" id="{ed1b7f38-a218-582f-af5b-c048f3199f84}">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Genie is the engine, LensS is the product. The proof panel: these are measured on every answer, not claimed. The next slides go through ten additions, strongest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LensS is the product; Genie is one engine inside it. Solid teal is live today; dashed is ready to add on the same platform without changing what users see. Live today: Command Center, Assistant (Quick + Deep in one conversation), Explorer, Observability, Responsible AI; a conversation-aware router that decides who answers and how deep and gives each engine only the context it is missing; the Collections Genie Agent plus AI models for routing, guardrails, quality checks and the in-app guide; a certified Unity Catalog layer with 22 rules as data, Lakebase, an answer cache and billing data; trust and governance on every request; running on Databricks Apps (auto-stop after 60 idle minutes), SQL warehouse, Model Serving, one-command deploy and automated tests. Ready to add: a supervisor agent, more Genie Agents (payments, customer service, risk), MCP connections to CRM, dialer, email and ticketing, ML scoring models, document knowledge, and new channels (Teams/Slack, API clients, scheduled briefings).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is live today, layer by layer, matching the picture. Right: what plugs in next. Close on why this makes LensS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first: certified layer, rules as data, and every answer checked twice. Then the assistant: Genie has separate modes; LensS makes them one conversation and reacts the way a good analyst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Center: the answer and the action list in seconds. Safety: visible controls for risk and compliance. Audit: the owner can answer “is it working, right, safe, and what does it cost?”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six to ten: domain fit, a simple and safe access model, cost control, a complete product experience, and repeatable, tested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quickly, then land the objection: a Genie app is only the question box; everything listed is what LensS already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pen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766560" cy="1828800"/>
          </a:xfrm>
          <a:prstGeom prst="rect">
            <a:avLst/>
          </a:prstGeom>
          <a:noFill/>
          <a:ln/>
        </p:spPr>
        <p:txBody>
          <a:bodyPr wrap="square" rtlCol="0"/>
          <a:lstStyle>
            <a:lvl1pPr algn="l" indent="0" marL="0">
              <a:lnSpc>
                <a:spcPct val="95000"/>
              </a:lnSpc>
              <a:buNone/>
              <a:defRPr lang="en-US" sz="4400" b="1" dirty="0">
                <a:solidFill>
                  <a:schemeClr val="bg1"/>
                </a:solidFill>
              </a:defRPr>
            </a:lvl1pPr>
          </a:lstStyle>
          <a:p>
            <a:pPr algn="l" indent="0" marL="0">
              <a:lnSpc>
                <a:spcPct val="95000"/>
              </a:lnSpc>
              <a:buNone/>
            </a:pPr>
            <a:r>
              <a:rPr lang="en-US" sz="4400" b="1" dirty="0">
                <a:solidFill>
                  <a:schemeClr val="bg1"/>
                </a:solidFill>
              </a:rPr>
              <a:t>Title</a:t>
            </a: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c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Title</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rtlCol="0"/>
          <a:lstStyle>
            <a:lvl1pPr algn="l" indent="0" marL="0">
              <a:buNone/>
              <a:defRPr lang="en-US" sz="1300" dirty="0">
                <a:solidFill>
                  <a:schemeClr val="accent5"/>
                </a:solidFill>
              </a:defRPr>
            </a:lvl1pPr>
          </a:lstStyle>
          <a:p>
            <a:pPr algn="l" indent="0" marL="0">
              <a:buNone/>
            </a:pPr>
            <a:r>
              <a:rPr lang="en-US" sz="1300" dirty="0">
                <a:solidFill>
                  <a:schemeClr val="accent5"/>
                </a:solidFill>
              </a:rPr>
              <a:t>Subtitle</a:t>
            </a:r>
            <a:endParaRPr lang="en-US" sz="1300" dirty="0"/>
          </a:p>
        </p:txBody>
      </p:sp>
      <p:sp>
        <p:nvSpPr>
          <p:cNvPr id="4" name="Text 0"/>
          <p:cNvSpPr/>
          <p:nvPr/>
        </p:nvSpPr>
        <p:spPr>
          <a:xfrm>
            <a:off x="457200" y="6446520"/>
            <a:ext cx="7315200" cy="228600"/>
          </a:xfrm>
          <a:prstGeom prst="rect">
            <a:avLst/>
          </a:prstGeom>
          <a:noFill/>
          <a:ln/>
        </p:spPr>
        <p:txBody>
          <a:bodyPr wrap="square" lIns="0" tIns="0" rIns="0" bIns="0" rtlCol="0" anchor="ctr"/>
          <a:lstStyle/>
          <a:p>
            <a:pPr indent="0" marL="0">
              <a:buNone/>
            </a:pPr>
            <a:r>
              <a:rPr lang="en-US" sz="900" dirty="0">
                <a:solidFill>
                  <a:schemeClr val="accent5"/>
                </a:solidFill>
              </a:rPr>
              <a:t>LensS Collections Intelligence  ·  Concentrix Data &amp; Analytics Practice</a:t>
            </a:r>
            <a:endParaRPr lang="en-US" sz="9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777240"/>
            <a:ext cx="67665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LENSS COLLECTIONS INTELLIGENCE  ·  ON DATABRICKS</a:t>
            </a:r>
            <a:endParaRPr lang="en-US" sz="1200" dirty="0"/>
          </a:p>
        </p:txBody>
      </p:sp>
      <p:sp>
        <p:nvSpPr>
          <p:cNvPr id="3" name="Text 0"/>
          <p:cNvSpPr/>
          <p:nvPr>
            <p:ph idx="100" type="title" hasCustomPrompt="1"/>
          </p:nvPr>
        </p:nvSpPr>
        <p:spPr>
          <a:xfrm>
            <a:off x="548640" y="1234440"/>
            <a:ext cx="6766560" cy="1828800"/>
          </a:xfrm>
          <a:prstGeom prst="rect">
            <a:avLst/>
          </a:prstGeom>
          <a:noFill/>
          <a:ln/>
        </p:spPr>
        <p:txBody>
          <a:bodyPr wrap="square" lIns="0" tIns="0" rIns="0" bIns="0" rtlCol="0" anchor="t"/>
          <a:lstStyle/>
          <a:p>
            <a:pPr algn="l" indent="0" marL="0">
              <a:lnSpc>
                <a:spcPct val="95000"/>
              </a:lnSpc>
              <a:buNone/>
            </a:pPr>
            <a:r>
              <a:rPr lang="en-US" sz="4400" b="1" dirty="0">
                <a:solidFill>
                  <a:schemeClr val="bg1"/>
                </a:solidFill>
              </a:rPr>
              <a:t>Genie answers questions. LensS runs collections</a:t>
            </a:r>
            <a:endParaRPr lang="en-US" sz="4400" dirty="0"/>
          </a:p>
        </p:txBody>
      </p:sp>
      <p:sp>
        <p:nvSpPr>
          <p:cNvPr id="4" name="Lead"/>
          <p:cNvSpPr txBox="1"/>
          <p:nvPr/>
        </p:nvSpPr>
        <p:spPr>
          <a:xfrm>
            <a:off x="548640" y="3246120"/>
            <a:ext cx="6400800" cy="1463040"/>
          </a:xfrm>
          <a:prstGeom prst="rect">
            <a:avLst/>
          </a:prstGeom>
          <a:noFill/>
          <a:ln/>
        </p:spPr>
        <p:txBody>
          <a:bodyPr wrap="square" lIns="0" tIns="0" rIns="0" bIns="0" rtlCol="0" anchor="t"/>
          <a:lstStyle/>
          <a:p>
            <a:pPr indent="0" marL="0">
              <a:buNone/>
            </a:pPr>
            <a:r>
              <a:rPr lang="en-US" sz="1500" dirty="0">
                <a:solidFill>
                  <a:schemeClr val="accent4"/>
                </a:solidFill>
              </a:rPr>
              <a:t>Genie is the query engine inside LensS. Everything around it turns Genie into a governed collections product: it knows what to show before anyone asks, checks every number it gives, follows the conversation across quick and deep answers, protects the data, and proves its quality, cost and safety at any time.</a:t>
            </a:r>
            <a:endParaRPr lang="en-US" sz="1500" dirty="0"/>
          </a:p>
        </p:txBody>
      </p:sp>
      <p:sp>
        <p:nvSpPr>
          <p:cNvPr id="5" name="Signpost"/>
          <p:cNvSpPr txBox="1"/>
          <p:nvPr/>
        </p:nvSpPr>
        <p:spPr>
          <a:xfrm>
            <a:off x="548640" y="4983480"/>
            <a:ext cx="6400800" cy="320040"/>
          </a:xfrm>
          <a:prstGeom prst="rect">
            <a:avLst/>
          </a:prstGeom>
          <a:noFill/>
          <a:ln/>
        </p:spPr>
        <p:txBody>
          <a:bodyPr wrap="square" lIns="0" tIns="0" rIns="0" bIns="0" rtlCol="0" anchor="ctr"/>
          <a:lstStyle/>
          <a:p>
            <a:pPr indent="0" marL="0">
              <a:buNone/>
            </a:pPr>
            <a:r>
              <a:rPr lang="en-US" sz="1300" b="1" dirty="0">
                <a:solidFill>
                  <a:schemeClr val="accent2"/>
                </a:solidFill>
              </a:rPr>
              <a:t>Ten things LensS adds, strongest first, on the next slides.</a:t>
            </a:r>
            <a:endParaRPr lang="en-US" sz="1300" dirty="0"/>
          </a:p>
        </p:txBody>
      </p:sp>
      <p:sp>
        <p:nvSpPr>
          <p:cNvPr id="6" name="Proof panel"/>
          <p:cNvSpPr/>
          <p:nvPr/>
        </p:nvSpPr>
        <p:spPr>
          <a:xfrm>
            <a:off x="7818120" y="777240"/>
            <a:ext cx="3840480" cy="5303520"/>
          </a:xfrm>
          <a:prstGeom prst="roundRect">
            <a:avLst>
              <a:gd name="adj" fmla="val 3571"/>
            </a:avLst>
          </a:prstGeom>
          <a:solidFill>
            <a:schemeClr val="accent3"/>
          </a:solidFill>
          <a:ln/>
        </p:spPr>
      </p:sp>
      <p:sp>
        <p:nvSpPr>
          <p:cNvPr id="7" name="Proof label"/>
          <p:cNvSpPr txBox="1"/>
          <p:nvPr/>
        </p:nvSpPr>
        <p:spPr>
          <a:xfrm>
            <a:off x="8183880" y="1051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PROOF, MEASURED</a:t>
            </a:r>
            <a:endParaRPr lang="en-US" sz="1100" dirty="0"/>
          </a:p>
        </p:txBody>
      </p:sp>
      <p:sp>
        <p:nvSpPr>
          <p:cNvPr id="8" name="Proof 1 value"/>
          <p:cNvSpPr txBox="1"/>
          <p:nvPr/>
        </p:nvSpPr>
        <p:spPr>
          <a:xfrm>
            <a:off x="8183880" y="1463040"/>
            <a:ext cx="3108960" cy="502920"/>
          </a:xfrm>
          <a:prstGeom prst="rect">
            <a:avLst/>
          </a:prstGeom>
          <a:noFill/>
          <a:ln/>
        </p:spPr>
        <p:txBody>
          <a:bodyPr wrap="square" lIns="0" tIns="0" rIns="0" bIns="0" rtlCol="0" anchor="b"/>
          <a:lstStyle/>
          <a:p>
            <a:pPr indent="0" marL="0">
              <a:buNone/>
            </a:pPr>
            <a:r>
              <a:rPr lang="en-US" sz="3400" b="1" dirty="0">
                <a:solidFill>
                  <a:schemeClr val="accent2"/>
                </a:solidFill>
              </a:rPr>
              <a:t>94.9%</a:t>
            </a:r>
            <a:endParaRPr lang="en-US" sz="3400" dirty="0"/>
          </a:p>
        </p:txBody>
      </p:sp>
      <p:sp>
        <p:nvSpPr>
          <p:cNvPr id="9" name="Proof 1 label"/>
          <p:cNvSpPr txBox="1"/>
          <p:nvPr/>
        </p:nvSpPr>
        <p:spPr>
          <a:xfrm>
            <a:off x="8183880" y="1984248"/>
            <a:ext cx="3154680" cy="502920"/>
          </a:xfrm>
          <a:prstGeom prst="rect">
            <a:avLst/>
          </a:prstGeom>
          <a:noFill/>
          <a:ln/>
        </p:spPr>
        <p:txBody>
          <a:bodyPr wrap="square" lIns="0" tIns="0" rIns="0" bIns="0" rtlCol="0" anchor="t"/>
          <a:lstStyle/>
          <a:p>
            <a:pPr indent="0" marL="0">
              <a:buNone/>
            </a:pPr>
            <a:r>
              <a:rPr lang="en-US" sz="1150" dirty="0">
                <a:solidFill>
                  <a:schemeClr val="bg1"/>
                </a:solidFill>
              </a:rPr>
              <a:t>of figures in answers reconciled exactly to the query result</a:t>
            </a:r>
            <a:endParaRPr lang="en-US" sz="1150" dirty="0"/>
          </a:p>
        </p:txBody>
      </p:sp>
      <p:sp>
        <p:nvSpPr>
          <p:cNvPr id="10" name="Proof 2 value"/>
          <p:cNvSpPr txBox="1"/>
          <p:nvPr/>
        </p:nvSpPr>
        <p:spPr>
          <a:xfrm>
            <a:off x="8183880" y="2578608"/>
            <a:ext cx="3108960" cy="502920"/>
          </a:xfrm>
          <a:prstGeom prst="rect">
            <a:avLst/>
          </a:prstGeom>
          <a:noFill/>
          <a:ln/>
        </p:spPr>
        <p:txBody>
          <a:bodyPr wrap="square" lIns="0" tIns="0" rIns="0" bIns="0" rtlCol="0" anchor="b"/>
          <a:lstStyle/>
          <a:p>
            <a:pPr indent="0" marL="0">
              <a:buNone/>
            </a:pPr>
            <a:r>
              <a:rPr lang="en-US" sz="3400" b="1" dirty="0">
                <a:solidFill>
                  <a:schemeClr val="accent2"/>
                </a:solidFill>
              </a:rPr>
              <a:t>96.5%</a:t>
            </a:r>
            <a:endParaRPr lang="en-US" sz="3400" dirty="0"/>
          </a:p>
        </p:txBody>
      </p:sp>
      <p:sp>
        <p:nvSpPr>
          <p:cNvPr id="11" name="Proof 2 label"/>
          <p:cNvSpPr txBox="1"/>
          <p:nvPr/>
        </p:nvSpPr>
        <p:spPr>
          <a:xfrm>
            <a:off x="8183880" y="3099816"/>
            <a:ext cx="3154680" cy="502920"/>
          </a:xfrm>
          <a:prstGeom prst="rect">
            <a:avLst/>
          </a:prstGeom>
          <a:noFill/>
          <a:ln/>
        </p:spPr>
        <p:txBody>
          <a:bodyPr wrap="square" lIns="0" tIns="0" rIns="0" bIns="0" rtlCol="0" anchor="t"/>
          <a:lstStyle/>
          <a:p>
            <a:pPr indent="0" marL="0">
              <a:buNone/>
            </a:pPr>
            <a:r>
              <a:rPr lang="en-US" sz="1150" dirty="0">
                <a:solidFill>
                  <a:schemeClr val="bg1"/>
                </a:solidFill>
              </a:rPr>
              <a:t>groundedness, scored on every answer by an independent AI judge</a:t>
            </a:r>
            <a:endParaRPr lang="en-US" sz="1150" dirty="0"/>
          </a:p>
        </p:txBody>
      </p:sp>
      <p:sp>
        <p:nvSpPr>
          <p:cNvPr id="12" name="Proof 3 value"/>
          <p:cNvSpPr txBox="1"/>
          <p:nvPr/>
        </p:nvSpPr>
        <p:spPr>
          <a:xfrm>
            <a:off x="8183880" y="3694176"/>
            <a:ext cx="3108960" cy="502920"/>
          </a:xfrm>
          <a:prstGeom prst="rect">
            <a:avLst/>
          </a:prstGeom>
          <a:noFill/>
          <a:ln/>
        </p:spPr>
        <p:txBody>
          <a:bodyPr wrap="square" lIns="0" tIns="0" rIns="0" bIns="0" rtlCol="0" anchor="b"/>
          <a:lstStyle/>
          <a:p>
            <a:pPr indent="0" marL="0">
              <a:buNone/>
            </a:pPr>
            <a:r>
              <a:rPr lang="en-US" sz="3400" b="1" dirty="0">
                <a:solidFill>
                  <a:schemeClr val="accent2"/>
                </a:solidFill>
              </a:rPr>
              <a:t>22</a:t>
            </a:r>
            <a:endParaRPr lang="en-US" sz="3400" dirty="0"/>
          </a:p>
        </p:txBody>
      </p:sp>
      <p:sp>
        <p:nvSpPr>
          <p:cNvPr id="13" name="Proof 3 label"/>
          <p:cNvSpPr txBox="1"/>
          <p:nvPr/>
        </p:nvSpPr>
        <p:spPr>
          <a:xfrm>
            <a:off x="8183880" y="4215384"/>
            <a:ext cx="3154680" cy="502920"/>
          </a:xfrm>
          <a:prstGeom prst="rect">
            <a:avLst/>
          </a:prstGeom>
          <a:noFill/>
          <a:ln/>
        </p:spPr>
        <p:txBody>
          <a:bodyPr wrap="square" lIns="0" tIns="0" rIns="0" bIns="0" rtlCol="0" anchor="t"/>
          <a:lstStyle/>
          <a:p>
            <a:pPr indent="0" marL="0">
              <a:buNone/>
            </a:pPr>
            <a:r>
              <a:rPr lang="en-US" sz="1150" dirty="0">
                <a:solidFill>
                  <a:schemeClr val="bg1"/>
                </a:solidFill>
              </a:rPr>
              <a:t>business rules held as data, in one table that every view reads</a:t>
            </a:r>
            <a:endParaRPr lang="en-US" sz="1150" dirty="0"/>
          </a:p>
        </p:txBody>
      </p:sp>
      <p:sp>
        <p:nvSpPr>
          <p:cNvPr id="14" name="Proof 4 value"/>
          <p:cNvSpPr txBox="1"/>
          <p:nvPr/>
        </p:nvSpPr>
        <p:spPr>
          <a:xfrm>
            <a:off x="8183880" y="4809744"/>
            <a:ext cx="3108960" cy="502920"/>
          </a:xfrm>
          <a:prstGeom prst="rect">
            <a:avLst/>
          </a:prstGeom>
          <a:noFill/>
          <a:ln/>
        </p:spPr>
        <p:txBody>
          <a:bodyPr wrap="square" lIns="0" tIns="0" rIns="0" bIns="0" rtlCol="0" anchor="b"/>
          <a:lstStyle/>
          <a:p>
            <a:pPr indent="0" marL="0">
              <a:buNone/>
            </a:pPr>
            <a:r>
              <a:rPr lang="en-US" sz="3400" b="1" dirty="0">
                <a:solidFill>
                  <a:schemeClr val="accent2"/>
                </a:solidFill>
              </a:rPr>
              <a:t>9</a:t>
            </a:r>
            <a:endParaRPr lang="en-US" sz="3400" dirty="0"/>
          </a:p>
        </p:txBody>
      </p:sp>
      <p:sp>
        <p:nvSpPr>
          <p:cNvPr id="15" name="Proof 4 label"/>
          <p:cNvSpPr txBox="1"/>
          <p:nvPr/>
        </p:nvSpPr>
        <p:spPr>
          <a:xfrm>
            <a:off x="8183880" y="5330952"/>
            <a:ext cx="3154680" cy="502920"/>
          </a:xfrm>
          <a:prstGeom prst="rect">
            <a:avLst/>
          </a:prstGeom>
          <a:noFill/>
          <a:ln/>
        </p:spPr>
        <p:txBody>
          <a:bodyPr wrap="square" lIns="0" tIns="0" rIns="0" bIns="0" rtlCol="0" anchor="t"/>
          <a:lstStyle/>
          <a:p>
            <a:pPr indent="0" marL="0">
              <a:buNone/>
            </a:pPr>
            <a:r>
              <a:rPr lang="en-US" sz="1150" dirty="0">
                <a:solidFill>
                  <a:schemeClr val="bg1"/>
                </a:solidFill>
              </a:rPr>
              <a:t>audited stages traced for every single question</a:t>
            </a:r>
            <a:endParaRPr lang="en-US" sz="1150" dirty="0"/>
          </a:p>
        </p:txBody>
      </p:sp>
      <p:sp>
        <p:nvSpPr>
          <p:cNvPr id="16" name="Footnote"/>
          <p:cNvSpPr txBox="1"/>
          <p:nvPr/>
        </p:nvSpPr>
        <p:spPr>
          <a:xfrm>
            <a:off x="548640" y="6263640"/>
            <a:ext cx="6400800" cy="274320"/>
          </a:xfrm>
          <a:prstGeom prst="rect">
            <a:avLst/>
          </a:prstGeom>
          <a:noFill/>
          <a:ln/>
        </p:spPr>
        <p:txBody>
          <a:bodyPr wrap="square" lIns="0" tIns="0" rIns="0" bIns="0" rtlCol="0" anchor="ctr"/>
          <a:lstStyle/>
          <a:p>
            <a:pPr indent="0" marL="0">
              <a:buNone/>
            </a:pPr>
            <a:r>
              <a:rPr lang="en-US" sz="1000" i="1" dirty="0">
                <a:solidFill>
                  <a:schemeClr val="accent5"/>
                </a:solidFill>
              </a:rPr>
              <a:t>Quality figures from the LensS test environment, on demo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LensS platform picture" descr="LensS platform: people and channels; inside LensS the experience, orchestration, engines and agents (Genie as the query engine), data and state, running on Databricks; trust and governance on every request. Solid = live today, dashed = ready to ad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lIns="0" tIns="0" rIns="0" bIns="0" rtlCol="0" anchor="ctr"/>
          <a:lstStyle/>
          <a:p>
            <a:pPr algn="l" indent="0" marL="0">
              <a:buNone/>
            </a:pPr>
            <a:r>
              <a:rPr lang="en-US" sz="2800" b="1" dirty="0">
                <a:solidFill>
                  <a:schemeClr val="tx2"/>
                </a:solidFill>
              </a:rPr>
              <a:t>What runs today, and where LensS grows</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lIns="0" tIns="0" rIns="0" bIns="0" rtlCol="0" anchor="t"/>
          <a:lstStyle/>
          <a:p>
            <a:pPr algn="l" indent="0" marL="0">
              <a:buNone/>
            </a:pPr>
            <a:r>
              <a:rPr lang="en-US" sz="1300" dirty="0">
                <a:solidFill>
                  <a:schemeClr val="accent5"/>
                </a:solidFill>
              </a:rPr>
              <a:t>Genie is one tile in the frame. Everything around it is LensS, and the platform is built to take more.</a:t>
            </a:r>
            <a:endParaRPr lang="en-US" sz="1300" dirty="0"/>
          </a:p>
        </p:txBody>
      </p:sp>
      <p:sp>
        <p:nvSpPr>
          <p:cNvPr id="4" name="Live today card"/>
          <p:cNvSpPr/>
          <p:nvPr/>
        </p:nvSpPr>
        <p:spPr>
          <a:xfrm>
            <a:off x="457200" y="1417320"/>
            <a:ext cx="5440680" cy="4023360"/>
          </a:xfrm>
          <a:prstGeom prst="roundRect">
            <a:avLst>
              <a:gd name="adj" fmla="val 2727"/>
            </a:avLst>
          </a:prstGeom>
          <a:solidFill>
            <a:schemeClr val="bg2"/>
          </a:solidFill>
          <a:ln/>
          <a:effectLst>
            <a:outerShdw sx="100000" sy="100000" kx="0" ky="0" algn="bl" rotWithShape="0" blurRad="76200" dist="25400" dir="5400000">
              <a:srgbClr val="0B2545">
                <a:alpha val="12000"/>
              </a:srgbClr>
            </a:outerShdw>
          </a:effectLst>
        </p:spPr>
      </p:sp>
      <p:sp>
        <p:nvSpPr>
          <p:cNvPr id="5" name="Live today pill"/>
          <p:cNvSpPr/>
          <p:nvPr/>
        </p:nvSpPr>
        <p:spPr>
          <a:xfrm>
            <a:off x="731520" y="1673352"/>
            <a:ext cx="1417320" cy="347472"/>
          </a:xfrm>
          <a:prstGeom prst="roundRect">
            <a:avLst>
              <a:gd name="adj" fmla="val 50000"/>
            </a:avLst>
          </a:prstGeom>
          <a:solidFill>
            <a:schemeClr val="accent1"/>
          </a:solidFill>
          <a:ln/>
        </p:spPr>
      </p:sp>
      <p:sp>
        <p:nvSpPr>
          <p:cNvPr id="6" name="Live today label"/>
          <p:cNvSpPr txBox="1"/>
          <p:nvPr/>
        </p:nvSpPr>
        <p:spPr>
          <a:xfrm>
            <a:off x="731520" y="1673352"/>
            <a:ext cx="1417320" cy="347472"/>
          </a:xfrm>
          <a:prstGeom prst="rect">
            <a:avLst/>
          </a:prstGeom>
          <a:noFill/>
          <a:ln/>
        </p:spPr>
        <p:txBody>
          <a:bodyPr wrap="square" lIns="0" tIns="0" rIns="0" bIns="0" rtlCol="0" anchor="ctr"/>
          <a:lstStyle/>
          <a:p>
            <a:pPr algn="ctr" indent="0" marL="0">
              <a:buNone/>
            </a:pPr>
            <a:r>
              <a:rPr lang="en-US" sz="1100" b="1" spc="150" kern="0" dirty="0">
                <a:solidFill>
                  <a:schemeClr val="bg1"/>
                </a:solidFill>
              </a:rPr>
              <a:t>LIVE TODAY</a:t>
            </a:r>
            <a:endParaRPr lang="en-US" sz="1100" dirty="0"/>
          </a:p>
        </p:txBody>
      </p:sp>
      <p:sp>
        <p:nvSpPr>
          <p:cNvPr id="7" name="Live today bullets"/>
          <p:cNvSpPr txBox="1"/>
          <p:nvPr/>
        </p:nvSpPr>
        <p:spPr>
          <a:xfrm>
            <a:off x="731520" y="2194560"/>
            <a:ext cx="4937760" cy="310896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334155"/>
                </a:solidFill>
              </a:rPr>
              <a:t>Experience: </a:t>
            </a:r>
            <a:pPr indent="0" marL="0">
              <a:spcAft>
                <a:spcPts val="500"/>
              </a:spcAft>
              <a:buNone/>
            </a:pPr>
            <a:r>
              <a:rPr lang="en-US" sz="1150" dirty="0">
                <a:solidFill>
                  <a:srgbClr val="334155"/>
                </a:solidFill>
              </a:rPr>
              <a:t>Command Center, Assistant (Quick + Deep in one conversation), Explorer, Observability, Responsible AI.</a:t>
            </a:r>
            <a:endParaRPr lang="en-US" sz="1150" dirty="0"/>
          </a:p>
          <a:p>
            <a:pPr marL="177800" indent="-177800">
              <a:spcAft>
                <a:spcPts val="500"/>
              </a:spcAft>
              <a:buSzPct val="100000"/>
              <a:buChar char="•"/>
            </a:pPr>
            <a:r>
              <a:rPr lang="en-US" sz="1150" b="1" dirty="0">
                <a:solidFill>
                  <a:srgbClr val="334155"/>
                </a:solidFill>
              </a:rPr>
              <a:t>Orchestration: </a:t>
            </a:r>
            <a:pPr indent="0" marL="0">
              <a:spcAft>
                <a:spcPts val="500"/>
              </a:spcAft>
              <a:buNone/>
            </a:pPr>
            <a:r>
              <a:rPr lang="en-US" sz="1150" dirty="0">
                <a:solidFill>
                  <a:srgbClr val="334155"/>
                </a:solidFill>
              </a:rPr>
              <a:t>a conversation-aware router that decides who answers and how deep, and gives each engine only the context it is missing.</a:t>
            </a:r>
            <a:endParaRPr lang="en-US" sz="1150" dirty="0"/>
          </a:p>
          <a:p>
            <a:pPr marL="177800" indent="-177800">
              <a:spcAft>
                <a:spcPts val="500"/>
              </a:spcAft>
              <a:buSzPct val="100000"/>
              <a:buChar char="•"/>
            </a:pPr>
            <a:r>
              <a:rPr lang="en-US" sz="1150" b="1" dirty="0">
                <a:solidFill>
                  <a:srgbClr val="334155"/>
                </a:solidFill>
              </a:rPr>
              <a:t>Engines: </a:t>
            </a:r>
            <a:pPr indent="0" marL="0">
              <a:spcAft>
                <a:spcPts val="500"/>
              </a:spcAft>
              <a:buNone/>
            </a:pPr>
            <a:r>
              <a:rPr lang="en-US" sz="1150" dirty="0">
                <a:solidFill>
                  <a:srgbClr val="334155"/>
                </a:solidFill>
              </a:rPr>
              <a:t>the Collections Genie Agent, plus AI models for routing, guardrails, quality checks and the in-app guide.</a:t>
            </a:r>
            <a:endParaRPr lang="en-US" sz="1150" dirty="0"/>
          </a:p>
          <a:p>
            <a:pPr marL="177800" indent="-177800">
              <a:spcAft>
                <a:spcPts val="500"/>
              </a:spcAft>
              <a:buSzPct val="100000"/>
              <a:buChar char="•"/>
            </a:pPr>
            <a:r>
              <a:rPr lang="en-US" sz="1150" b="1" dirty="0">
                <a:solidFill>
                  <a:srgbClr val="334155"/>
                </a:solidFill>
              </a:rPr>
              <a:t>Data and state: </a:t>
            </a:r>
            <a:pPr indent="0" marL="0">
              <a:spcAft>
                <a:spcPts val="500"/>
              </a:spcAft>
              <a:buNone/>
            </a:pPr>
            <a:r>
              <a:rPr lang="en-US" sz="1150" dirty="0">
                <a:solidFill>
                  <a:srgbClr val="334155"/>
                </a:solidFill>
              </a:rPr>
              <a:t>certified Unity Catalog layer with 22 rules as data; Lakebase for history, audit log and evaluations; answer cache; billing data.</a:t>
            </a:r>
            <a:endParaRPr lang="en-US" sz="1150" dirty="0"/>
          </a:p>
          <a:p>
            <a:pPr marL="177800" indent="-177800">
              <a:spcAft>
                <a:spcPts val="500"/>
              </a:spcAft>
              <a:buSzPct val="100000"/>
              <a:buChar char="•"/>
            </a:pPr>
            <a:r>
              <a:rPr lang="en-US" sz="1150" b="1" dirty="0">
                <a:solidFill>
                  <a:srgbClr val="334155"/>
                </a:solidFill>
              </a:rPr>
              <a:t>Trust on every request: </a:t>
            </a:r>
            <a:pPr indent="0" marL="0">
              <a:spcAft>
                <a:spcPts val="500"/>
              </a:spcAft>
              <a:buNone/>
            </a:pPr>
            <a:r>
              <a:rPr lang="en-US" sz="1150" dirty="0">
                <a:solidFill>
                  <a:srgbClr val="334155"/>
                </a:solidFill>
              </a:rPr>
              <a:t>PII masked, injection blocked, every figure checked, full audit trail, evaluations and cost tracking.</a:t>
            </a:r>
            <a:endParaRPr lang="en-US" sz="1150" dirty="0"/>
          </a:p>
          <a:p>
            <a:pPr marL="177800" indent="-177800">
              <a:spcAft>
                <a:spcPts val="500"/>
              </a:spcAft>
              <a:buSzPct val="100000"/>
              <a:buChar char="•"/>
            </a:pPr>
            <a:r>
              <a:rPr lang="en-US" sz="1150" b="1" dirty="0">
                <a:solidFill>
                  <a:srgbClr val="334155"/>
                </a:solidFill>
              </a:rPr>
              <a:t>Runs on Databricks: </a:t>
            </a:r>
            <a:pPr indent="0" marL="0">
              <a:spcAft>
                <a:spcPts val="500"/>
              </a:spcAft>
              <a:buNone/>
            </a:pPr>
            <a:r>
              <a:rPr lang="en-US" sz="1150" dirty="0">
                <a:solidFill>
                  <a:srgbClr val="334155"/>
                </a:solidFill>
              </a:rPr>
              <a:t>Apps with 60-minute auto-stop, SQL warehouse, Model Serving, one-command deploy, automated tests.</a:t>
            </a:r>
            <a:endParaRPr lang="en-US" sz="1150" dirty="0"/>
          </a:p>
        </p:txBody>
      </p:sp>
      <p:sp>
        <p:nvSpPr>
          <p:cNvPr id="8" name="Ready to add card"/>
          <p:cNvSpPr/>
          <p:nvPr/>
        </p:nvSpPr>
        <p:spPr>
          <a:xfrm>
            <a:off x="6263640" y="1417320"/>
            <a:ext cx="5440680" cy="4023360"/>
          </a:xfrm>
          <a:prstGeom prst="roundRect">
            <a:avLst>
              <a:gd name="adj" fmla="val 2727"/>
            </a:avLst>
          </a:prstGeom>
          <a:solidFill>
            <a:schemeClr val="bg1"/>
          </a:solidFill>
          <a:ln w="22225">
            <a:solidFill>
              <a:schemeClr val="accent1"/>
            </a:solidFill>
            <a:prstDash val="dash"/>
          </a:ln>
        </p:spPr>
      </p:sp>
      <p:sp>
        <p:nvSpPr>
          <p:cNvPr id="9" name="Ready pill"/>
          <p:cNvSpPr/>
          <p:nvPr/>
        </p:nvSpPr>
        <p:spPr>
          <a:xfrm>
            <a:off x="6537960" y="1673352"/>
            <a:ext cx="1600200" cy="347472"/>
          </a:xfrm>
          <a:prstGeom prst="roundRect">
            <a:avLst>
              <a:gd name="adj" fmla="val 50000"/>
            </a:avLst>
          </a:prstGeom>
          <a:solidFill>
            <a:schemeClr val="accent6"/>
          </a:solidFill>
          <a:ln/>
        </p:spPr>
      </p:sp>
      <p:sp>
        <p:nvSpPr>
          <p:cNvPr id="10" name="Ready label"/>
          <p:cNvSpPr txBox="1"/>
          <p:nvPr/>
        </p:nvSpPr>
        <p:spPr>
          <a:xfrm>
            <a:off x="6537960" y="1673352"/>
            <a:ext cx="1600200" cy="347472"/>
          </a:xfrm>
          <a:prstGeom prst="rect">
            <a:avLst/>
          </a:prstGeom>
          <a:noFill/>
          <a:ln/>
        </p:spPr>
        <p:txBody>
          <a:bodyPr wrap="square" lIns="0" tIns="0" rIns="0" bIns="0" rtlCol="0" anchor="ctr"/>
          <a:lstStyle/>
          <a:p>
            <a:pPr algn="ctr" indent="0" marL="0">
              <a:buNone/>
            </a:pPr>
            <a:r>
              <a:rPr lang="en-US" sz="1100" b="1" spc="150" kern="0" dirty="0">
                <a:solidFill>
                  <a:schemeClr val="accent1"/>
                </a:solidFill>
              </a:rPr>
              <a:t>READY TO ADD</a:t>
            </a:r>
            <a:endParaRPr lang="en-US" sz="1100" dirty="0"/>
          </a:p>
        </p:txBody>
      </p:sp>
      <p:sp>
        <p:nvSpPr>
          <p:cNvPr id="11" name="Ready bullets"/>
          <p:cNvSpPr txBox="1"/>
          <p:nvPr/>
        </p:nvSpPr>
        <p:spPr>
          <a:xfrm>
            <a:off x="6537960" y="2194560"/>
            <a:ext cx="4937760" cy="310896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334155"/>
                </a:solidFill>
              </a:rPr>
              <a:t>A supervisor agent </a:t>
            </a:r>
            <a:pPr indent="0" marL="0">
              <a:spcAft>
                <a:spcPts val="500"/>
              </a:spcAft>
              <a:buNone/>
            </a:pPr>
            <a:r>
              <a:rPr lang="en-US" sz="1150" dirty="0">
                <a:solidFill>
                  <a:srgbClr val="334155"/>
                </a:solidFill>
              </a:rPr>
              <a:t>that plans across several agents and combines their answers.</a:t>
            </a:r>
            <a:endParaRPr lang="en-US" sz="1150" dirty="0"/>
          </a:p>
          <a:p>
            <a:pPr marL="177800" indent="-177800">
              <a:spcAft>
                <a:spcPts val="500"/>
              </a:spcAft>
              <a:buSzPct val="100000"/>
              <a:buChar char="•"/>
            </a:pPr>
            <a:r>
              <a:rPr lang="en-US" sz="1150" b="1" dirty="0">
                <a:solidFill>
                  <a:srgbClr val="334155"/>
                </a:solidFill>
              </a:rPr>
              <a:t>More Genie Agents: </a:t>
            </a:r>
            <a:pPr indent="0" marL="0">
              <a:spcAft>
                <a:spcPts val="500"/>
              </a:spcAft>
              <a:buNone/>
            </a:pPr>
            <a:r>
              <a:rPr lang="en-US" sz="1150" dirty="0">
                <a:solidFill>
                  <a:srgbClr val="334155"/>
                </a:solidFill>
              </a:rPr>
              <a:t>payments, customer service and risk, each a curated domain.</a:t>
            </a:r>
            <a:endParaRPr lang="en-US" sz="1150" dirty="0"/>
          </a:p>
          <a:p>
            <a:pPr marL="177800" indent="-177800">
              <a:spcAft>
                <a:spcPts val="500"/>
              </a:spcAft>
              <a:buSzPct val="100000"/>
              <a:buChar char="•"/>
            </a:pPr>
            <a:r>
              <a:rPr lang="en-US" sz="1150" b="1" dirty="0">
                <a:solidFill>
                  <a:srgbClr val="334155"/>
                </a:solidFill>
              </a:rPr>
              <a:t>MCP connections </a:t>
            </a:r>
            <a:pPr indent="0" marL="0">
              <a:spcAft>
                <a:spcPts val="500"/>
              </a:spcAft>
              <a:buNone/>
            </a:pPr>
            <a:r>
              <a:rPr lang="en-US" sz="1150" dirty="0">
                <a:solidFill>
                  <a:srgbClr val="334155"/>
                </a:solidFill>
              </a:rPr>
              <a:t>to CRM, dialer, email and ticketing, so agents can look things up and take action.</a:t>
            </a:r>
            <a:endParaRPr lang="en-US" sz="1150" dirty="0"/>
          </a:p>
          <a:p>
            <a:pPr marL="177800" indent="-177800">
              <a:spcAft>
                <a:spcPts val="500"/>
              </a:spcAft>
              <a:buSzPct val="100000"/>
              <a:buChar char="•"/>
            </a:pPr>
            <a:r>
              <a:rPr lang="en-US" sz="1150" b="1" dirty="0">
                <a:solidFill>
                  <a:srgbClr val="334155"/>
                </a:solidFill>
              </a:rPr>
              <a:t>ML scoring models and document knowledge: </a:t>
            </a:r>
            <a:pPr indent="0" marL="0">
              <a:spcAft>
                <a:spcPts val="500"/>
              </a:spcAft>
              <a:buNone/>
            </a:pPr>
            <a:r>
              <a:rPr lang="en-US" sz="1150" dirty="0">
                <a:solidFill>
                  <a:srgbClr val="334155"/>
                </a:solidFill>
              </a:rPr>
              <a:t>refreshed propensity and risk scores; policies, SOPs and regulations searchable.</a:t>
            </a:r>
            <a:endParaRPr lang="en-US" sz="1150" dirty="0"/>
          </a:p>
          <a:p>
            <a:pPr marL="177800" indent="-177800">
              <a:spcAft>
                <a:spcPts val="500"/>
              </a:spcAft>
              <a:buSzPct val="100000"/>
              <a:buChar char="•"/>
            </a:pPr>
            <a:r>
              <a:rPr lang="en-US" sz="1150" b="1" dirty="0">
                <a:solidFill>
                  <a:srgbClr val="334155"/>
                </a:solidFill>
              </a:rPr>
              <a:t>New channels: </a:t>
            </a:r>
            <a:pPr indent="0" marL="0">
              <a:spcAft>
                <a:spcPts val="500"/>
              </a:spcAft>
              <a:buNone/>
            </a:pPr>
            <a:r>
              <a:rPr lang="en-US" sz="1150" dirty="0">
                <a:solidFill>
                  <a:srgbClr val="334155"/>
                </a:solidFill>
              </a:rPr>
              <a:t>Teams / Slack, API clients and scheduled briefings.</a:t>
            </a:r>
            <a:endParaRPr lang="en-US" sz="1150" dirty="0"/>
          </a:p>
        </p:txBody>
      </p:sp>
      <p:sp>
        <p:nvSpPr>
          <p:cNvPr id="12" name="Why band"/>
          <p:cNvSpPr/>
          <p:nvPr/>
        </p:nvSpPr>
        <p:spPr>
          <a:xfrm>
            <a:off x="457200" y="5669280"/>
            <a:ext cx="11274552" cy="868680"/>
          </a:xfrm>
          <a:prstGeom prst="roundRect">
            <a:avLst>
              <a:gd name="adj" fmla="val 12632"/>
            </a:avLst>
          </a:prstGeom>
          <a:solidFill>
            <a:schemeClr val="tx2"/>
          </a:solidFill>
          <a:ln/>
        </p:spPr>
      </p:sp>
      <p:sp>
        <p:nvSpPr>
          <p:cNvPr id="13" name="Why text"/>
          <p:cNvSpPr txBox="1"/>
          <p:nvPr/>
        </p:nvSpPr>
        <p:spPr>
          <a:xfrm>
            <a:off x="731520" y="5760720"/>
            <a:ext cx="10789920" cy="685800"/>
          </a:xfrm>
          <a:prstGeom prst="rect">
            <a:avLst/>
          </a:prstGeom>
          <a:noFill/>
          <a:ln/>
        </p:spPr>
        <p:txBody>
          <a:bodyPr wrap="square" lIns="0" tIns="0" rIns="0" bIns="0" rtlCol="0" anchor="ctr"/>
          <a:lstStyle/>
          <a:p>
            <a:pPr indent="0" marL="0">
              <a:buNone/>
            </a:pPr>
            <a:r>
              <a:rPr lang="en-US" sz="1300" b="1" dirty="0">
                <a:solidFill>
                  <a:schemeClr val="accent2"/>
                </a:solidFill>
              </a:rPr>
              <a:t>Why it matters  </a:t>
            </a:r>
            <a:pPr indent="0" marL="0">
              <a:buNone/>
            </a:pPr>
            <a:r>
              <a:rPr lang="en-US" sz="1300" dirty="0">
                <a:solidFill>
                  <a:schemeClr val="bg1"/>
                </a:solidFill>
              </a:rPr>
              <a:t>A Genie app alone is a question box. LensS decides who answers, checks every answer, adds context and next actions, and grows by plugging in more agents, models, data and connections. That is why LensS is a product, not a Genie front end.</a:t>
            </a:r>
            <a:endParaRPr lang="en-US" sz="13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lIns="0" tIns="0" rIns="0" bIns="0" rtlCol="0" anchor="ctr"/>
          <a:lstStyle/>
          <a:p>
            <a:pPr algn="l" indent="0" marL="0">
              <a:buNone/>
            </a:pPr>
            <a:r>
              <a:rPr lang="en-US" sz="2800" b="1" dirty="0">
                <a:solidFill>
                  <a:schemeClr val="tx2"/>
                </a:solidFill>
              </a:rPr>
              <a:t>Answers you can trust, from one assistant that follows the conversation</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lIns="0" tIns="0" rIns="0" bIns="0" rtlCol="0" anchor="t"/>
          <a:lstStyle/>
          <a:p>
            <a:pPr algn="l" indent="0" marL="0">
              <a:buNone/>
            </a:pPr>
            <a:r>
              <a:rPr lang="en-US" sz="1300" dirty="0">
                <a:solidFill>
                  <a:schemeClr val="accent5"/>
                </a:solidFill>
              </a:rPr>
              <a:t>The two biggest differences: every number is checked, and quick and deep analysis work as one conversation.</a:t>
            </a:r>
            <a:endParaRPr lang="en-US" sz="1300" dirty="0"/>
          </a:p>
        </p:txBody>
      </p:sp>
      <p:sp>
        <p:nvSpPr>
          <p:cNvPr id="4" name="Trust card"/>
          <p:cNvSpPr/>
          <p:nvPr/>
        </p:nvSpPr>
        <p:spPr>
          <a:xfrm>
            <a:off x="457200" y="1417320"/>
            <a:ext cx="5440680" cy="4846320"/>
          </a:xfrm>
          <a:prstGeom prst="roundRect">
            <a:avLst>
              <a:gd name="adj" fmla="val 2264"/>
            </a:avLst>
          </a:prstGeom>
          <a:solidFill>
            <a:schemeClr val="bg2"/>
          </a:solidFill>
          <a:ln/>
          <a:effectLst>
            <a:outerShdw sx="100000" sy="100000" kx="0" ky="0" algn="bl" rotWithShape="0" blurRad="76200" dist="25400" dir="5400000">
              <a:srgbClr val="0B2545">
                <a:alpha val="12000"/>
              </a:srgbClr>
            </a:outerShdw>
          </a:effectLst>
        </p:spPr>
      </p:sp>
      <p:sp>
        <p:nvSpPr>
          <p:cNvPr id="5" name="Trust circle"/>
          <p:cNvSpPr/>
          <p:nvPr/>
        </p:nvSpPr>
        <p:spPr>
          <a:xfrm>
            <a:off x="685800" y="1645920"/>
            <a:ext cx="475488" cy="475488"/>
          </a:xfrm>
          <a:prstGeom prst="ellipse">
            <a:avLst/>
          </a:prstGeom>
          <a:solidFill>
            <a:schemeClr val="accent1"/>
          </a:solidFill>
          <a:ln/>
        </p:spPr>
      </p:sp>
      <p:pic>
        <p:nvPicPr>
          <p:cNvPr id="6" name="Trust icon" descr="preencoded.png">    </p:cNvPr>
          <p:cNvPicPr>
            <a:picLocks noChangeAspect="1"/>
          </p:cNvPicPr>
          <p:nvPr/>
        </p:nvPicPr>
        <p:blipFill>
          <a:blip r:embed="rId1"/>
          <a:stretch>
            <a:fillRect/>
          </a:stretch>
        </p:blipFill>
        <p:spPr>
          <a:xfrm>
            <a:off x="809427" y="1769547"/>
            <a:ext cx="228234" cy="228234"/>
          </a:xfrm>
          <a:prstGeom prst="rect">
            <a:avLst/>
          </a:prstGeom>
        </p:spPr>
      </p:pic>
      <p:sp>
        <p:nvSpPr>
          <p:cNvPr id="7" name="Trust title"/>
          <p:cNvSpPr txBox="1"/>
          <p:nvPr/>
        </p:nvSpPr>
        <p:spPr>
          <a:xfrm>
            <a:off x="1325880" y="1645920"/>
            <a:ext cx="4389120" cy="475488"/>
          </a:xfrm>
          <a:prstGeom prst="rect">
            <a:avLst/>
          </a:prstGeom>
          <a:noFill/>
          <a:ln/>
        </p:spPr>
        <p:txBody>
          <a:bodyPr wrap="square" lIns="0" tIns="0" rIns="0" bIns="0" rtlCol="0" anchor="ctr"/>
          <a:lstStyle/>
          <a:p>
            <a:pPr indent="0" marL="0">
              <a:buNone/>
            </a:pPr>
            <a:r>
              <a:rPr lang="en-US" sz="1800" b="1" dirty="0">
                <a:solidFill>
                  <a:schemeClr val="accent1"/>
                </a:solidFill>
              </a:rPr>
              <a:t>1  </a:t>
            </a:r>
            <a:pPr indent="0" marL="0">
              <a:buNone/>
            </a:pPr>
            <a:r>
              <a:rPr lang="en-US" sz="1800" b="1" dirty="0">
                <a:solidFill>
                  <a:schemeClr val="tx2"/>
                </a:solidFill>
              </a:rPr>
              <a:t>Answers you can trust and audit</a:t>
            </a:r>
            <a:endParaRPr lang="en-US" sz="1800" dirty="0"/>
          </a:p>
        </p:txBody>
      </p:sp>
      <p:sp>
        <p:nvSpPr>
          <p:cNvPr id="8" name="Trust genie"/>
          <p:cNvSpPr txBox="1"/>
          <p:nvPr/>
        </p:nvSpPr>
        <p:spPr>
          <a:xfrm>
            <a:off x="731520" y="2286000"/>
            <a:ext cx="4892040" cy="457200"/>
          </a:xfrm>
          <a:prstGeom prst="rect">
            <a:avLst/>
          </a:prstGeom>
          <a:noFill/>
          <a:ln/>
        </p:spPr>
        <p:txBody>
          <a:bodyPr wrap="square" lIns="0" tIns="0" rIns="0" bIns="0" rtlCol="0" anchor="t"/>
          <a:lstStyle/>
          <a:p>
            <a:pPr indent="0" marL="0">
              <a:buNone/>
            </a:pPr>
            <a:r>
              <a:rPr lang="en-US" sz="1150" b="1" dirty="0">
                <a:solidFill>
                  <a:schemeClr val="accent5"/>
                </a:solidFill>
              </a:rPr>
              <a:t>Genie alone:  </a:t>
            </a:r>
            <a:pPr indent="0" marL="0">
              <a:buNone/>
            </a:pPr>
            <a:r>
              <a:rPr lang="en-US" sz="1150" i="1" dirty="0">
                <a:solidFill>
                  <a:schemeClr val="accent5"/>
                </a:solidFill>
              </a:rPr>
              <a:t>writes SQL over whatever tables it is given. Nothing tells you whether a given answer is right.</a:t>
            </a:r>
            <a:endParaRPr lang="en-US" sz="1150" dirty="0"/>
          </a:p>
        </p:txBody>
      </p:sp>
      <p:sp>
        <p:nvSpPr>
          <p:cNvPr id="9" name="Trust bullets"/>
          <p:cNvSpPr txBox="1"/>
          <p:nvPr/>
        </p:nvSpPr>
        <p:spPr>
          <a:xfrm>
            <a:off x="731520" y="2788920"/>
            <a:ext cx="4892040" cy="292608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334155"/>
                </a:solidFill>
              </a:rPr>
              <a:t>A certified data layer. </a:t>
            </a:r>
            <a:pPr indent="0" marL="0">
              <a:spcAft>
                <a:spcPts val="500"/>
              </a:spcAft>
              <a:buNone/>
            </a:pPr>
            <a:r>
              <a:rPr lang="en-US" sz="1200" dirty="0">
                <a:solidFill>
                  <a:srgbClr val="334155"/>
                </a:solidFill>
              </a:rPr>
              <a:t>Genie never reads raw data: it answers from certified views and metric views that encode recovery, roll-forward, promises and target achievement.</a:t>
            </a:r>
            <a:endParaRPr lang="en-US" sz="1200" dirty="0"/>
          </a:p>
          <a:p>
            <a:pPr marL="177800" indent="-177800">
              <a:spcAft>
                <a:spcPts val="500"/>
              </a:spcAft>
              <a:buSzPct val="100000"/>
              <a:buChar char="•"/>
            </a:pPr>
            <a:r>
              <a:rPr lang="en-US" sz="1200" b="1" dirty="0">
                <a:solidFill>
                  <a:srgbClr val="334155"/>
                </a:solidFill>
              </a:rPr>
              <a:t>22 business rules as data. </a:t>
            </a:r>
            <a:pPr indent="0" marL="0">
              <a:spcAft>
                <a:spcPts val="500"/>
              </a:spcAft>
              <a:buNone/>
            </a:pPr>
            <a:r>
              <a:rPr lang="en-US" sz="1200" dirty="0">
                <a:solidFill>
                  <a:srgbClr val="334155"/>
                </a:solidFill>
              </a:rPr>
              <a:t>One table holds every threshold (e.g. high risk ≥ 0.70). Change it once and every view, figure and answer follows.</a:t>
            </a:r>
            <a:endParaRPr lang="en-US" sz="1200" dirty="0"/>
          </a:p>
          <a:p>
            <a:pPr marL="177800" indent="-177800">
              <a:spcAft>
                <a:spcPts val="500"/>
              </a:spcAft>
              <a:buSzPct val="100000"/>
              <a:buChar char="•"/>
            </a:pPr>
            <a:r>
              <a:rPr lang="en-US" sz="1200" b="1" dirty="0">
                <a:solidFill>
                  <a:srgbClr val="334155"/>
                </a:solidFill>
              </a:rPr>
              <a:t>Every view describes itself. </a:t>
            </a:r>
            <a:pPr indent="0" marL="0">
              <a:spcAft>
                <a:spcPts val="500"/>
              </a:spcAft>
              <a:buNone/>
            </a:pPr>
            <a:r>
              <a:rPr lang="en-US" sz="1200" dirty="0">
                <a:solidFill>
                  <a:srgbClr val="334155"/>
                </a:solidFill>
              </a:rPr>
              <a:t>Its business question, grain and rules, plus 37 example questions covering every source, so different wordings get the same answer.</a:t>
            </a:r>
            <a:endParaRPr lang="en-US" sz="1200" dirty="0"/>
          </a:p>
          <a:p>
            <a:pPr marL="177800" indent="-177800">
              <a:spcAft>
                <a:spcPts val="500"/>
              </a:spcAft>
              <a:buSzPct val="100000"/>
              <a:buChar char="•"/>
            </a:pPr>
            <a:r>
              <a:rPr lang="en-US" sz="1200" b="1" dirty="0">
                <a:solidFill>
                  <a:srgbClr val="334155"/>
                </a:solidFill>
              </a:rPr>
              <a:t>Every answer is checked. </a:t>
            </a:r>
            <a:pPr indent="0" marL="0">
              <a:spcAft>
                <a:spcPts val="500"/>
              </a:spcAft>
              <a:buNone/>
            </a:pPr>
            <a:r>
              <a:rPr lang="en-US" sz="1200" dirty="0">
                <a:solidFill>
                  <a:srgbClr val="334155"/>
                </a:solidFill>
              </a:rPr>
              <a:t>94.9% of figures matched the query exactly; an AI judge scores faithfulness, relevance and completeness (96.5% groundedness).</a:t>
            </a:r>
            <a:endParaRPr lang="en-US" sz="1200" dirty="0"/>
          </a:p>
          <a:p>
            <a:pPr marL="177800" indent="-177800">
              <a:spcAft>
                <a:spcPts val="500"/>
              </a:spcAft>
              <a:buSzPct val="100000"/>
              <a:buChar char="•"/>
            </a:pPr>
            <a:r>
              <a:rPr lang="en-US" sz="1200" b="1" dirty="0">
                <a:solidFill>
                  <a:srgbClr val="334155"/>
                </a:solidFill>
              </a:rPr>
              <a:t>The query is shown. </a:t>
            </a:r>
            <a:pPr indent="0" marL="0">
              <a:spcAft>
                <a:spcPts val="500"/>
              </a:spcAft>
              <a:buNone/>
            </a:pPr>
            <a:r>
              <a:rPr lang="en-US" sz="1200" dirty="0">
                <a:solidFill>
                  <a:srgbClr val="334155"/>
                </a:solidFill>
              </a:rPr>
              <a:t>The certified view and SQL behind every answer.</a:t>
            </a:r>
            <a:endParaRPr lang="en-US" sz="1200" dirty="0"/>
          </a:p>
        </p:txBody>
      </p:sp>
      <p:sp>
        <p:nvSpPr>
          <p:cNvPr id="10" name="Trust why"/>
          <p:cNvSpPr txBox="1"/>
          <p:nvPr/>
        </p:nvSpPr>
        <p:spPr>
          <a:xfrm>
            <a:off x="731520" y="5733288"/>
            <a:ext cx="4892040" cy="365760"/>
          </a:xfrm>
          <a:prstGeom prst="rect">
            <a:avLst/>
          </a:prstGeom>
          <a:noFill/>
          <a:ln/>
        </p:spPr>
        <p:txBody>
          <a:bodyPr wrap="square" lIns="0" tIns="0" rIns="0" bIns="0" rtlCol="0" anchor="ctr"/>
          <a:lstStyle/>
          <a:p>
            <a:pPr indent="0" marL="0">
              <a:buNone/>
            </a:pPr>
            <a:r>
              <a:rPr lang="en-US" sz="1200" b="1" i="1" dirty="0">
                <a:solidFill>
                  <a:schemeClr val="accent1"/>
                </a:solidFill>
              </a:rPr>
              <a:t>A wrong number in collections means the wrong action on a real customer.</a:t>
            </a:r>
            <a:endParaRPr lang="en-US" sz="1200" dirty="0"/>
          </a:p>
        </p:txBody>
      </p:sp>
      <p:sp>
        <p:nvSpPr>
          <p:cNvPr id="11" name="Assistant card"/>
          <p:cNvSpPr/>
          <p:nvPr/>
        </p:nvSpPr>
        <p:spPr>
          <a:xfrm>
            <a:off x="6263640" y="1417320"/>
            <a:ext cx="5440680" cy="4846320"/>
          </a:xfrm>
          <a:prstGeom prst="roundRect">
            <a:avLst>
              <a:gd name="adj" fmla="val 2264"/>
            </a:avLst>
          </a:prstGeom>
          <a:solidFill>
            <a:schemeClr val="bg2"/>
          </a:solidFill>
          <a:ln/>
          <a:effectLst>
            <a:outerShdw sx="100000" sy="100000" kx="0" ky="0" algn="bl" rotWithShape="0" blurRad="76200" dist="25400" dir="5400000">
              <a:srgbClr val="0B2545">
                <a:alpha val="12000"/>
              </a:srgbClr>
            </a:outerShdw>
          </a:effectLst>
        </p:spPr>
      </p:sp>
      <p:sp>
        <p:nvSpPr>
          <p:cNvPr id="12" name="Assistant circle"/>
          <p:cNvSpPr/>
          <p:nvPr/>
        </p:nvSpPr>
        <p:spPr>
          <a:xfrm>
            <a:off x="6492240" y="1645920"/>
            <a:ext cx="475488" cy="475488"/>
          </a:xfrm>
          <a:prstGeom prst="ellipse">
            <a:avLst/>
          </a:prstGeom>
          <a:solidFill>
            <a:schemeClr val="accent1"/>
          </a:solidFill>
          <a:ln/>
        </p:spPr>
      </p:sp>
      <p:pic>
        <p:nvPicPr>
          <p:cNvPr id="13" name="Assistant icon" descr="preencoded.png">    </p:cNvPr>
          <p:cNvPicPr>
            <a:picLocks noChangeAspect="1"/>
          </p:cNvPicPr>
          <p:nvPr/>
        </p:nvPicPr>
        <p:blipFill>
          <a:blip r:embed="rId2"/>
          <a:stretch>
            <a:fillRect/>
          </a:stretch>
        </p:blipFill>
        <p:spPr>
          <a:xfrm>
            <a:off x="6615867" y="1769547"/>
            <a:ext cx="228234" cy="228234"/>
          </a:xfrm>
          <a:prstGeom prst="rect">
            <a:avLst/>
          </a:prstGeom>
        </p:spPr>
      </p:pic>
      <p:sp>
        <p:nvSpPr>
          <p:cNvPr id="14" name="Assistant title"/>
          <p:cNvSpPr txBox="1"/>
          <p:nvPr/>
        </p:nvSpPr>
        <p:spPr>
          <a:xfrm>
            <a:off x="7132320" y="1645920"/>
            <a:ext cx="4389120" cy="475488"/>
          </a:xfrm>
          <a:prstGeom prst="rect">
            <a:avLst/>
          </a:prstGeom>
          <a:noFill/>
          <a:ln/>
        </p:spPr>
        <p:txBody>
          <a:bodyPr wrap="square" lIns="0" tIns="0" rIns="0" bIns="0" rtlCol="0" anchor="ctr"/>
          <a:lstStyle/>
          <a:p>
            <a:pPr indent="0" marL="0">
              <a:buNone/>
            </a:pPr>
            <a:r>
              <a:rPr lang="en-US" sz="1800" b="1" dirty="0">
                <a:solidFill>
                  <a:schemeClr val="accent1"/>
                </a:solidFill>
              </a:rPr>
              <a:t>2  </a:t>
            </a:r>
            <a:pPr indent="0" marL="0">
              <a:buNone/>
            </a:pPr>
            <a:r>
              <a:rPr lang="en-US" sz="1800" b="1" dirty="0">
                <a:solidFill>
                  <a:schemeClr val="tx2"/>
                </a:solidFill>
              </a:rPr>
              <a:t>One assistant: Quick + Deep combined</a:t>
            </a:r>
            <a:endParaRPr lang="en-US" sz="1800" dirty="0"/>
          </a:p>
        </p:txBody>
      </p:sp>
      <p:sp>
        <p:nvSpPr>
          <p:cNvPr id="15" name="Assistant genie"/>
          <p:cNvSpPr txBox="1"/>
          <p:nvPr/>
        </p:nvSpPr>
        <p:spPr>
          <a:xfrm>
            <a:off x="6537960" y="2286000"/>
            <a:ext cx="4892040" cy="457200"/>
          </a:xfrm>
          <a:prstGeom prst="rect">
            <a:avLst/>
          </a:prstGeom>
          <a:noFill/>
          <a:ln/>
        </p:spPr>
        <p:txBody>
          <a:bodyPr wrap="square" lIns="0" tIns="0" rIns="0" bIns="0" rtlCol="0" anchor="t"/>
          <a:lstStyle/>
          <a:p>
            <a:pPr indent="0" marL="0">
              <a:buNone/>
            </a:pPr>
            <a:r>
              <a:rPr lang="en-US" sz="1150" b="1" dirty="0">
                <a:solidFill>
                  <a:schemeClr val="accent5"/>
                </a:solidFill>
              </a:rPr>
              <a:t>Genie alone:  </a:t>
            </a:r>
            <a:pPr indent="0" marL="0">
              <a:buNone/>
            </a:pPr>
            <a:r>
              <a:rPr lang="en-US" sz="1150" i="1" dirty="0">
                <a:solidFill>
                  <a:schemeClr val="accent5"/>
                </a:solidFill>
              </a:rPr>
              <a:t>quick chat and agent mode are separate. The user picks the mode, and switching loses the thread.</a:t>
            </a:r>
            <a:endParaRPr lang="en-US" sz="1150" dirty="0"/>
          </a:p>
        </p:txBody>
      </p:sp>
      <p:sp>
        <p:nvSpPr>
          <p:cNvPr id="16" name="Assistant bullets"/>
          <p:cNvSpPr txBox="1"/>
          <p:nvPr/>
        </p:nvSpPr>
        <p:spPr>
          <a:xfrm>
            <a:off x="6537960" y="2788920"/>
            <a:ext cx="4892040" cy="91440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334155"/>
                </a:solidFill>
              </a:rPr>
              <a:t>One conversation, two depths. </a:t>
            </a:r>
            <a:pPr indent="0" marL="0">
              <a:spcAft>
                <a:spcPts val="500"/>
              </a:spcAft>
              <a:buNone/>
            </a:pPr>
            <a:r>
              <a:rPr lang="en-US" sz="1200" dirty="0">
                <a:solidFill>
                  <a:srgbClr val="334155"/>
                </a:solidFill>
              </a:rPr>
              <a:t>Each engine is given the turns it missed.</a:t>
            </a:r>
            <a:endParaRPr lang="en-US" sz="1200" dirty="0"/>
          </a:p>
          <a:p>
            <a:pPr marL="177800" indent="-177800">
              <a:spcAft>
                <a:spcPts val="500"/>
              </a:spcAft>
              <a:buSzPct val="100000"/>
              <a:buChar char="•"/>
            </a:pPr>
            <a:r>
              <a:rPr lang="en-US" sz="1200" b="1" dirty="0">
                <a:solidFill>
                  <a:srgbClr val="334155"/>
                </a:solidFill>
              </a:rPr>
              <a:t>A router decides in about 1 s: </a:t>
            </a:r>
            <a:pPr indent="0" marL="0">
              <a:spcAft>
                <a:spcPts val="500"/>
              </a:spcAft>
              <a:buNone/>
            </a:pPr>
            <a:r>
              <a:rPr lang="en-US" sz="1200" dirty="0">
                <a:solidFill>
                  <a:srgbClr val="334155"/>
                </a:solidFill>
              </a:rPr>
              <a:t>data or app question, quick or deep, and whether the user is pushing back or asking again.</a:t>
            </a:r>
            <a:endParaRPr lang="en-US" sz="1200" dirty="0"/>
          </a:p>
        </p:txBody>
      </p:sp>
      <p:graphicFrame>
        <p:nvGraphicFramePr>
          <p:cNvPr id="5" name="Reactions table"/>
          <p:cNvGraphicFramePr>
            <a:graphicFrameLocks noGrp="1"/>
          </p:cNvGraphicFramePr>
          <p:nvPr>
            <p:extLst>
              <p:ext uri="{D42A27DB-BD31-4B8C-83A1-F6EECF244321}">
                <p14:modId xmlns:p14="http://schemas.microsoft.com/office/powerpoint/2010/main" val="1579011935"/>
              </p:ext>
            </p:extLst>
          </p:nvPr>
        </p:nvGraphicFramePr>
        <p:xfrm>
          <a:off x="6537960" y="3703320"/>
          <a:ext cx="4892040" cy="914400"/>
        </p:xfrm>
        <a:graphic>
          <a:graphicData uri="http://schemas.openxmlformats.org/drawingml/2006/table">
            <a:tbl>
              <a:tblPr/>
              <a:tblGrid>
                <a:gridCol w="2057400"/>
                <a:gridCol w="2834640"/>
              </a:tblGrid>
              <a:tr h="329184">
                <a:tc>
                  <a:txBody>
                    <a:bodyPr/>
                    <a:lstStyle/>
                    <a:p>
                      <a:pPr indent="0" marL="0">
                        <a:buNone/>
                      </a:pPr>
                      <a:r>
                        <a:rPr lang="en-US" sz="1100" b="1" dirty="0">
                          <a:solidFill>
                            <a:srgbClr val="FFFFFF"/>
                          </a:solidFill>
                        </a:rPr>
                        <a:t>The user says or does</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9384"/>
                    </a:solidFill>
                  </a:tcPr>
                </a:tc>
                <a:tc>
                  <a:txBody>
                    <a:bodyPr/>
                    <a:lstStyle/>
                    <a:p>
                      <a:pPr indent="0" marL="0">
                        <a:buNone/>
                      </a:pPr>
                      <a:r>
                        <a:rPr lang="en-US" sz="1100" b="1" dirty="0">
                          <a:solidFill>
                            <a:srgbClr val="FFFFFF"/>
                          </a:solidFill>
                        </a:rPr>
                        <a:t>LensS responds</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E9384"/>
                    </a:solidFill>
                  </a:tcPr>
                </a:tc>
              </a:tr>
              <a:tr h="329184">
                <a:tc>
                  <a:txBody>
                    <a:bodyPr/>
                    <a:lstStyle/>
                    <a:p>
                      <a:pPr indent="0" marL="0">
                        <a:buNone/>
                      </a:pPr>
                      <a:r>
                        <a:rPr lang="en-US" sz="1100" b="1" dirty="0">
                          <a:solidFill>
                            <a:srgbClr val="0B2545"/>
                          </a:solidFill>
                        </a:rPr>
                        <a:t>“This isn’t enough”</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 fresh, deeper analysis, never the same answer again</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545"/>
                          </a:solidFill>
                        </a:rPr>
                        <a:t>“Why is the third one so high?”</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Resolves “the third one” from the last answer</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545"/>
                          </a:solidFill>
                        </a:rPr>
                        <a:t>Asks the same question again</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Offers a fuller analysis, or shows the earlier answer</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545"/>
                          </a:solidFill>
                        </a:rPr>
                        <a:t>Gets a thin quick answer</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“Go deeper” is offered automatically</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545"/>
                          </a:solidFill>
                        </a:rPr>
                        <a:t>“No, you do it” after a how-to</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Understood as pushback, not as an attack</a:t>
                      </a:r>
                      <a:endParaRPr lang="en-US" sz="1100" dirty="0"/>
                    </a:p>
                  </a:txBody>
                  <a:tcPr marL="54864" marR="54864"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8" name="Assistant why"/>
          <p:cNvSpPr txBox="1"/>
          <p:nvPr/>
        </p:nvSpPr>
        <p:spPr>
          <a:xfrm>
            <a:off x="6537960" y="5733288"/>
            <a:ext cx="4892040" cy="365760"/>
          </a:xfrm>
          <a:prstGeom prst="rect">
            <a:avLst/>
          </a:prstGeom>
          <a:noFill/>
          <a:ln/>
        </p:spPr>
        <p:txBody>
          <a:bodyPr wrap="square" lIns="0" tIns="0" rIns="0" bIns="0" rtlCol="0" anchor="ctr"/>
          <a:lstStyle/>
          <a:p>
            <a:pPr indent="0" marL="0">
              <a:buNone/>
            </a:pPr>
            <a:r>
              <a:rPr lang="en-US" sz="1200" b="1" i="1" dirty="0">
                <a:solidFill>
                  <a:schemeClr val="accent1"/>
                </a:solidFill>
              </a:rPr>
              <a:t>The user’s own Quick or Deep choice is kept, unless they ask for more.</a:t>
            </a:r>
            <a:endParaRPr lang="en-US" sz="12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lIns="0" tIns="0" rIns="0" bIns="0" rtlCol="0" anchor="ctr"/>
          <a:lstStyle/>
          <a:p>
            <a:pPr algn="l" indent="0" marL="0">
              <a:buNone/>
            </a:pPr>
            <a:r>
              <a:rPr lang="en-US" sz="2800" b="1" dirty="0">
                <a:solidFill>
                  <a:schemeClr val="tx2"/>
                </a:solidFill>
              </a:rPr>
              <a:t>Insight before anyone asks, with safety and an audit trail built in</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lIns="0" tIns="0" rIns="0" bIns="0" rtlCol="0" anchor="t"/>
          <a:lstStyle/>
          <a:p>
            <a:pPr algn="l" indent="0" marL="0">
              <a:buNone/>
            </a:pPr>
            <a:r>
              <a:rPr lang="en-US" sz="1300" dirty="0">
                <a:solidFill>
                  <a:schemeClr val="accent5"/>
                </a:solidFill>
              </a:rPr>
              <a:t>Leaders get the story and the action list without typing; risk teams see every control and every answer’s trail.</a:t>
            </a:r>
            <a:endParaRPr lang="en-US" sz="1300" dirty="0"/>
          </a:p>
        </p:txBody>
      </p:sp>
      <p:sp>
        <p:nvSpPr>
          <p:cNvPr id="4" name="The Command Center card"/>
          <p:cNvSpPr/>
          <p:nvPr/>
        </p:nvSpPr>
        <p:spPr>
          <a:xfrm>
            <a:off x="457200" y="1417320"/>
            <a:ext cx="3566160" cy="4846320"/>
          </a:xfrm>
          <a:prstGeom prst="roundRect">
            <a:avLst>
              <a:gd name="adj" fmla="val 3077"/>
            </a:avLst>
          </a:prstGeom>
          <a:solidFill>
            <a:schemeClr val="bg2"/>
          </a:solidFill>
          <a:ln/>
          <a:effectLst>
            <a:outerShdw sx="100000" sy="100000" kx="0" ky="0" algn="bl" rotWithShape="0" blurRad="76200" dist="25400" dir="5400000">
              <a:srgbClr val="0B2545">
                <a:alpha val="12000"/>
              </a:srgbClr>
            </a:outerShdw>
          </a:effectLst>
        </p:spPr>
      </p:sp>
      <p:sp>
        <p:nvSpPr>
          <p:cNvPr id="5" name="The Command Center circle"/>
          <p:cNvSpPr/>
          <p:nvPr/>
        </p:nvSpPr>
        <p:spPr>
          <a:xfrm>
            <a:off x="685800" y="1645920"/>
            <a:ext cx="475488" cy="475488"/>
          </a:xfrm>
          <a:prstGeom prst="ellipse">
            <a:avLst/>
          </a:prstGeom>
          <a:solidFill>
            <a:schemeClr val="accent1"/>
          </a:solidFill>
          <a:ln/>
        </p:spPr>
      </p:sp>
      <p:pic>
        <p:nvPicPr>
          <p:cNvPr id="6" name="The Command Center icon" descr="preencoded.png">    </p:cNvPr>
          <p:cNvPicPr>
            <a:picLocks noChangeAspect="1"/>
          </p:cNvPicPr>
          <p:nvPr/>
        </p:nvPicPr>
        <p:blipFill>
          <a:blip r:embed="rId1"/>
          <a:stretch>
            <a:fillRect/>
          </a:stretch>
        </p:blipFill>
        <p:spPr>
          <a:xfrm>
            <a:off x="809427" y="1769547"/>
            <a:ext cx="228234" cy="228234"/>
          </a:xfrm>
          <a:prstGeom prst="rect">
            <a:avLst/>
          </a:prstGeom>
        </p:spPr>
      </p:pic>
      <p:sp>
        <p:nvSpPr>
          <p:cNvPr id="7" name="The Command Center title"/>
          <p:cNvSpPr txBox="1"/>
          <p:nvPr/>
        </p:nvSpPr>
        <p:spPr>
          <a:xfrm>
            <a:off x="1325880" y="1645920"/>
            <a:ext cx="2560320" cy="475488"/>
          </a:xfrm>
          <a:prstGeom prst="rect">
            <a:avLst/>
          </a:prstGeom>
          <a:noFill/>
          <a:ln/>
        </p:spPr>
        <p:txBody>
          <a:bodyPr wrap="square" lIns="0" tIns="0" rIns="0" bIns="0" rtlCol="0" anchor="ctr"/>
          <a:lstStyle/>
          <a:p>
            <a:pPr indent="0" marL="0">
              <a:buNone/>
            </a:pPr>
            <a:r>
              <a:rPr lang="en-US" sz="1700" b="1" dirty="0">
                <a:solidFill>
                  <a:schemeClr val="accent1"/>
                </a:solidFill>
              </a:rPr>
              <a:t>3  </a:t>
            </a:r>
            <a:pPr indent="0" marL="0">
              <a:buNone/>
            </a:pPr>
            <a:r>
              <a:rPr lang="en-US" sz="1700" b="1" dirty="0">
                <a:solidFill>
                  <a:schemeClr val="tx2"/>
                </a:solidFill>
              </a:rPr>
              <a:t>The Command Center</a:t>
            </a:r>
            <a:endParaRPr lang="en-US" sz="1700" dirty="0"/>
          </a:p>
        </p:txBody>
      </p:sp>
      <p:sp>
        <p:nvSpPr>
          <p:cNvPr id="8" name="The Command Center genie"/>
          <p:cNvSpPr txBox="1"/>
          <p:nvPr/>
        </p:nvSpPr>
        <p:spPr>
          <a:xfrm>
            <a:off x="731520" y="2258568"/>
            <a:ext cx="3017520" cy="457200"/>
          </a:xfrm>
          <a:prstGeom prst="rect">
            <a:avLst/>
          </a:prstGeom>
          <a:noFill/>
          <a:ln/>
        </p:spPr>
        <p:txBody>
          <a:bodyPr wrap="square" lIns="0" tIns="0" rIns="0" bIns="0" rtlCol="0" anchor="t"/>
          <a:lstStyle/>
          <a:p>
            <a:pPr indent="0" marL="0">
              <a:buNone/>
            </a:pPr>
            <a:r>
              <a:rPr lang="en-US" sz="1150" b="1" dirty="0">
                <a:solidFill>
                  <a:schemeClr val="accent5"/>
                </a:solidFill>
              </a:rPr>
              <a:t>Genie alone:  </a:t>
            </a:r>
            <a:pPr indent="0" marL="0">
              <a:buNone/>
            </a:pPr>
            <a:r>
              <a:rPr lang="en-US" sz="1150" i="1" dirty="0">
                <a:solidFill>
                  <a:schemeClr val="accent5"/>
                </a:solidFill>
              </a:rPr>
              <a:t>a blank question box; value depends on knowing what to ask.</a:t>
            </a:r>
            <a:endParaRPr lang="en-US" sz="1150" dirty="0"/>
          </a:p>
        </p:txBody>
      </p:sp>
      <p:sp>
        <p:nvSpPr>
          <p:cNvPr id="9" name="The Command Center bullets"/>
          <p:cNvSpPr txBox="1"/>
          <p:nvPr/>
        </p:nvSpPr>
        <p:spPr>
          <a:xfrm>
            <a:off x="731520" y="2834640"/>
            <a:ext cx="3063240" cy="324612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334155"/>
                </a:solidFill>
              </a:rPr>
              <a:t>Where we stand: </a:t>
            </a:r>
            <a:pPr indent="0" marL="0">
              <a:spcAft>
                <a:spcPts val="500"/>
              </a:spcAft>
              <a:buNone/>
            </a:pPr>
            <a:r>
              <a:rPr lang="en-US" sz="1150" dirty="0">
                <a:solidFill>
                  <a:srgbClr val="334155"/>
                </a:solidFill>
              </a:rPr>
              <a:t>collected vs target, days left, month-end outlook and likelihood.</a:t>
            </a:r>
            <a:endParaRPr lang="en-US" sz="1150" dirty="0"/>
          </a:p>
          <a:p>
            <a:pPr marL="177800" indent="-177800">
              <a:spcAft>
                <a:spcPts val="500"/>
              </a:spcAft>
              <a:buSzPct val="100000"/>
              <a:buChar char="•"/>
            </a:pPr>
            <a:r>
              <a:rPr lang="en-US" sz="1150" b="1" dirty="0">
                <a:solidFill>
                  <a:srgbClr val="334155"/>
                </a:solidFill>
              </a:rPr>
              <a:t>Promises end to end: </a:t>
            </a:r>
            <a:pPr indent="0" marL="0">
              <a:spcAft>
                <a:spcPts val="500"/>
              </a:spcAft>
              <a:buNone/>
            </a:pPr>
            <a:r>
              <a:rPr lang="en-US" sz="1150" dirty="0">
                <a:solidFill>
                  <a:srgbClr val="334155"/>
                </a:solidFill>
              </a:rPr>
              <a:t>₹168.4M promised; ₹52.7M broken and ₹28.3M kept so far; ₹87.5M still to come.</a:t>
            </a:r>
            <a:endParaRPr lang="en-US" sz="1150" dirty="0"/>
          </a:p>
          <a:p>
            <a:pPr marL="177800" indent="-177800">
              <a:spcAft>
                <a:spcPts val="500"/>
              </a:spcAft>
              <a:buSzPct val="100000"/>
              <a:buChar char="•"/>
            </a:pPr>
            <a:r>
              <a:rPr lang="en-US" sz="1150" b="1" dirty="0">
                <a:solidFill>
                  <a:srgbClr val="334155"/>
                </a:solidFill>
              </a:rPr>
              <a:t>What holds us back: </a:t>
            </a:r>
            <a:pPr indent="0" marL="0">
              <a:spcAft>
                <a:spcPts val="500"/>
              </a:spcAft>
              <a:buNone/>
            </a:pPr>
            <a:r>
              <a:rPr lang="en-US" sz="1150" dirty="0">
                <a:solidFill>
                  <a:srgbClr val="334155"/>
                </a:solidFill>
              </a:rPr>
              <a:t>issues ranked by money at stake, with the likely driver.</a:t>
            </a:r>
            <a:endParaRPr lang="en-US" sz="1150" dirty="0"/>
          </a:p>
          <a:p>
            <a:pPr marL="177800" indent="-177800">
              <a:spcAft>
                <a:spcPts val="500"/>
              </a:spcAft>
              <a:buSzPct val="100000"/>
              <a:buChar char="•"/>
            </a:pPr>
            <a:r>
              <a:rPr lang="en-US" sz="1150" b="1" dirty="0">
                <a:solidFill>
                  <a:srgbClr val="334155"/>
                </a:solidFill>
              </a:rPr>
              <a:t>This week: </a:t>
            </a:r>
            <a:pPr indent="0" marL="0">
              <a:spcAft>
                <a:spcPts val="500"/>
              </a:spcAft>
              <a:buNone/>
            </a:pPr>
            <a:r>
              <a:rPr lang="en-US" sz="1150" dirty="0">
                <a:solidFill>
                  <a:srgbClr val="334155"/>
                </a:solidFill>
              </a:rPr>
              <a:t>action queues for promises at risk, high-value accounts and accounts nearing 180+ days.</a:t>
            </a:r>
            <a:endParaRPr lang="en-US" sz="1150" dirty="0"/>
          </a:p>
          <a:p>
            <a:pPr marL="177800" indent="-177800">
              <a:spcAft>
                <a:spcPts val="500"/>
              </a:spcAft>
              <a:buSzPct val="100000"/>
              <a:buChar char="•"/>
            </a:pPr>
            <a:r>
              <a:rPr lang="en-US" sz="1150" b="1" dirty="0">
                <a:solidFill>
                  <a:srgbClr val="334155"/>
                </a:solidFill>
              </a:rPr>
              <a:t>Top 100 accounts: </a:t>
            </a:r>
            <a:pPr indent="0" marL="0">
              <a:spcAft>
                <a:spcPts val="500"/>
              </a:spcAft>
              <a:buNone/>
            </a:pPr>
            <a:r>
              <a:rPr lang="en-US" sz="1150" dirty="0">
                <a:solidFill>
                  <a:srgbClr val="334155"/>
                </a:solidFill>
              </a:rPr>
              <a:t>₹4.0M recoverable, a next step for each.</a:t>
            </a:r>
            <a:endParaRPr lang="en-US" sz="1150" dirty="0"/>
          </a:p>
          <a:p>
            <a:pPr marL="177800" indent="-177800">
              <a:spcAft>
                <a:spcPts val="500"/>
              </a:spcAft>
              <a:buSzPct val="100000"/>
              <a:buChar char="•"/>
            </a:pPr>
            <a:r>
              <a:rPr lang="en-US" sz="1150" b="1" dirty="0">
                <a:solidFill>
                  <a:srgbClr val="334155"/>
                </a:solidFill>
              </a:rPr>
              <a:t>Every figure opens its accounts</a:t>
            </a:r>
            <a:pPr indent="0" marL="0">
              <a:spcAft>
                <a:spcPts val="500"/>
              </a:spcAft>
              <a:buNone/>
            </a:pPr>
            <a:r>
              <a:rPr lang="en-US" sz="1150" dirty="0">
                <a:solidFill>
                  <a:srgbClr val="334155"/>
                </a:solidFill>
              </a:rPr>
              <a:t> and continues in the assistant.</a:t>
            </a:r>
            <a:endParaRPr lang="en-US" sz="1150" dirty="0"/>
          </a:p>
        </p:txBody>
      </p:sp>
      <p:sp>
        <p:nvSpPr>
          <p:cNvPr id="10" name="Safety and compliance card"/>
          <p:cNvSpPr/>
          <p:nvPr/>
        </p:nvSpPr>
        <p:spPr>
          <a:xfrm>
            <a:off x="4297680" y="1417320"/>
            <a:ext cx="3566160" cy="4846320"/>
          </a:xfrm>
          <a:prstGeom prst="roundRect">
            <a:avLst>
              <a:gd name="adj" fmla="val 3077"/>
            </a:avLst>
          </a:prstGeom>
          <a:solidFill>
            <a:schemeClr val="bg2"/>
          </a:solidFill>
          <a:ln/>
          <a:effectLst>
            <a:outerShdw sx="100000" sy="100000" kx="0" ky="0" algn="bl" rotWithShape="0" blurRad="76200" dist="25400" dir="5400000">
              <a:srgbClr val="0B2545">
                <a:alpha val="12000"/>
              </a:srgbClr>
            </a:outerShdw>
          </a:effectLst>
        </p:spPr>
      </p:sp>
      <p:sp>
        <p:nvSpPr>
          <p:cNvPr id="11" name="Safety and compliance circle"/>
          <p:cNvSpPr/>
          <p:nvPr/>
        </p:nvSpPr>
        <p:spPr>
          <a:xfrm>
            <a:off x="4526280" y="1645920"/>
            <a:ext cx="475488" cy="475488"/>
          </a:xfrm>
          <a:prstGeom prst="ellipse">
            <a:avLst/>
          </a:prstGeom>
          <a:solidFill>
            <a:schemeClr val="accent1"/>
          </a:solidFill>
          <a:ln/>
        </p:spPr>
      </p:sp>
      <p:pic>
        <p:nvPicPr>
          <p:cNvPr id="12" name="Safety and compliance icon" descr="preencoded.png">    </p:cNvPr>
          <p:cNvPicPr>
            <a:picLocks noChangeAspect="1"/>
          </p:cNvPicPr>
          <p:nvPr/>
        </p:nvPicPr>
        <p:blipFill>
          <a:blip r:embed="rId2"/>
          <a:stretch>
            <a:fillRect/>
          </a:stretch>
        </p:blipFill>
        <p:spPr>
          <a:xfrm>
            <a:off x="4649907" y="1769547"/>
            <a:ext cx="228234" cy="228234"/>
          </a:xfrm>
          <a:prstGeom prst="rect">
            <a:avLst/>
          </a:prstGeom>
        </p:spPr>
      </p:pic>
      <p:sp>
        <p:nvSpPr>
          <p:cNvPr id="13" name="Safety and compliance title"/>
          <p:cNvSpPr txBox="1"/>
          <p:nvPr/>
        </p:nvSpPr>
        <p:spPr>
          <a:xfrm>
            <a:off x="5166360" y="1645920"/>
            <a:ext cx="2560320" cy="475488"/>
          </a:xfrm>
          <a:prstGeom prst="rect">
            <a:avLst/>
          </a:prstGeom>
          <a:noFill/>
          <a:ln/>
        </p:spPr>
        <p:txBody>
          <a:bodyPr wrap="square" lIns="0" tIns="0" rIns="0" bIns="0" rtlCol="0" anchor="ctr"/>
          <a:lstStyle/>
          <a:p>
            <a:pPr indent="0" marL="0">
              <a:buNone/>
            </a:pPr>
            <a:r>
              <a:rPr lang="en-US" sz="1700" b="1" dirty="0">
                <a:solidFill>
                  <a:schemeClr val="accent1"/>
                </a:solidFill>
              </a:rPr>
              <a:t>4  </a:t>
            </a:r>
            <a:pPr indent="0" marL="0">
              <a:buNone/>
            </a:pPr>
            <a:r>
              <a:rPr lang="en-US" sz="1700" b="1" dirty="0">
                <a:solidFill>
                  <a:schemeClr val="tx2"/>
                </a:solidFill>
              </a:rPr>
              <a:t>Safety and compliance</a:t>
            </a:r>
            <a:endParaRPr lang="en-US" sz="1700" dirty="0"/>
          </a:p>
        </p:txBody>
      </p:sp>
      <p:sp>
        <p:nvSpPr>
          <p:cNvPr id="14" name="Safety and compliance genie"/>
          <p:cNvSpPr txBox="1"/>
          <p:nvPr/>
        </p:nvSpPr>
        <p:spPr>
          <a:xfrm>
            <a:off x="4572000" y="2258568"/>
            <a:ext cx="3017520" cy="457200"/>
          </a:xfrm>
          <a:prstGeom prst="rect">
            <a:avLst/>
          </a:prstGeom>
          <a:noFill/>
          <a:ln/>
        </p:spPr>
        <p:txBody>
          <a:bodyPr wrap="square" lIns="0" tIns="0" rIns="0" bIns="0" rtlCol="0" anchor="t"/>
          <a:lstStyle/>
          <a:p>
            <a:pPr indent="0" marL="0">
              <a:buNone/>
            </a:pPr>
            <a:r>
              <a:rPr lang="en-US" sz="1150" b="1" dirty="0">
                <a:solidFill>
                  <a:schemeClr val="accent5"/>
                </a:solidFill>
              </a:rPr>
              <a:t>Genie alone:  </a:t>
            </a:r>
            <a:pPr indent="0" marL="0">
              <a:buNone/>
            </a:pPr>
            <a:r>
              <a:rPr lang="en-US" sz="1150" i="1" dirty="0">
                <a:solidFill>
                  <a:schemeClr val="accent5"/>
                </a:solidFill>
              </a:rPr>
              <a:t>answers what it is asked; no checks on what goes in or comes out.</a:t>
            </a:r>
            <a:endParaRPr lang="en-US" sz="1150" dirty="0"/>
          </a:p>
        </p:txBody>
      </p:sp>
      <p:sp>
        <p:nvSpPr>
          <p:cNvPr id="15" name="Safety and compliance bullets"/>
          <p:cNvSpPr txBox="1"/>
          <p:nvPr/>
        </p:nvSpPr>
        <p:spPr>
          <a:xfrm>
            <a:off x="4572000" y="2834640"/>
            <a:ext cx="3063240" cy="324612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334155"/>
                </a:solidFill>
              </a:rPr>
              <a:t>Personal data masked </a:t>
            </a:r>
            <a:pPr indent="0" marL="0">
              <a:spcAft>
                <a:spcPts val="500"/>
              </a:spcAft>
              <a:buNone/>
            </a:pPr>
            <a:r>
              <a:rPr lang="en-US" sz="1150" dirty="0">
                <a:solidFill>
                  <a:srgbClr val="334155"/>
                </a:solidFill>
              </a:rPr>
              <a:t>(emails, phones, cards, Aadhaar, PAN…) before a question is processed or stored, and removed from answers.</a:t>
            </a:r>
            <a:endParaRPr lang="en-US" sz="1150" dirty="0"/>
          </a:p>
          <a:p>
            <a:pPr marL="177800" indent="-177800">
              <a:spcAft>
                <a:spcPts val="500"/>
              </a:spcAft>
              <a:buSzPct val="100000"/>
              <a:buChar char="•"/>
            </a:pPr>
            <a:r>
              <a:rPr lang="en-US" sz="1150" b="1" dirty="0">
                <a:solidFill>
                  <a:srgbClr val="334155"/>
                </a:solidFill>
              </a:rPr>
              <a:t>Prompt injection and jailbreaks blocked </a:t>
            </a:r>
            <a:pPr indent="0" marL="0">
              <a:spcAft>
                <a:spcPts val="500"/>
              </a:spcAft>
              <a:buNone/>
            </a:pPr>
            <a:r>
              <a:rPr lang="en-US" sz="1150" dirty="0">
                <a:solidFill>
                  <a:srgbClr val="334155"/>
                </a:solidFill>
              </a:rPr>
              <a:t>before any data is queried. Abusive language blocked.</a:t>
            </a:r>
            <a:endParaRPr lang="en-US" sz="1150" dirty="0"/>
          </a:p>
          <a:p>
            <a:pPr marL="177800" indent="-177800">
              <a:spcAft>
                <a:spcPts val="500"/>
              </a:spcAft>
              <a:buSzPct val="100000"/>
              <a:buChar char="•"/>
            </a:pPr>
            <a:r>
              <a:rPr lang="en-US" sz="1150" b="1" dirty="0">
                <a:solidFill>
                  <a:srgbClr val="334155"/>
                </a:solidFill>
              </a:rPr>
              <a:t>Policy wording: </a:t>
            </a:r>
            <a:pPr indent="0" marL="0">
              <a:spcAft>
                <a:spcPts val="500"/>
              </a:spcAft>
              <a:buNone/>
            </a:pPr>
            <a:r>
              <a:rPr lang="en-US" sz="1150" dirty="0">
                <a:solidFill>
                  <a:srgbClr val="334155"/>
                </a:solidFill>
              </a:rPr>
              <a:t>no forecasts stated as fact, no unsupported causal claims.</a:t>
            </a:r>
            <a:endParaRPr lang="en-US" sz="1150" dirty="0"/>
          </a:p>
          <a:p>
            <a:pPr marL="177800" indent="-177800">
              <a:spcAft>
                <a:spcPts val="500"/>
              </a:spcAft>
              <a:buSzPct val="100000"/>
              <a:buChar char="•"/>
            </a:pPr>
            <a:r>
              <a:rPr lang="en-US" sz="1150" b="1" dirty="0">
                <a:solidFill>
                  <a:srgbClr val="334155"/>
                </a:solidFill>
              </a:rPr>
              <a:t>A live Responsible AI page: </a:t>
            </a:r>
            <a:pPr indent="0" marL="0">
              <a:spcAft>
                <a:spcPts val="500"/>
              </a:spcAft>
              <a:buNone/>
            </a:pPr>
            <a:r>
              <a:rPr lang="en-US" sz="1150" dirty="0">
                <a:solidFill>
                  <a:srgbClr val="334155"/>
                </a:solidFill>
              </a:rPr>
              <a:t>models used and when, every protection in force, quality results and known limits.</a:t>
            </a:r>
            <a:endParaRPr lang="en-US" sz="1150" dirty="0"/>
          </a:p>
        </p:txBody>
      </p:sp>
      <p:sp>
        <p:nvSpPr>
          <p:cNvPr id="16" name="Full audit trail card"/>
          <p:cNvSpPr/>
          <p:nvPr/>
        </p:nvSpPr>
        <p:spPr>
          <a:xfrm>
            <a:off x="8138160" y="1417320"/>
            <a:ext cx="3566160" cy="4846320"/>
          </a:xfrm>
          <a:prstGeom prst="roundRect">
            <a:avLst>
              <a:gd name="adj" fmla="val 3077"/>
            </a:avLst>
          </a:prstGeom>
          <a:solidFill>
            <a:schemeClr val="bg2"/>
          </a:solidFill>
          <a:ln/>
          <a:effectLst>
            <a:outerShdw sx="100000" sy="100000" kx="0" ky="0" algn="bl" rotWithShape="0" blurRad="76200" dist="25400" dir="5400000">
              <a:srgbClr val="0B2545">
                <a:alpha val="12000"/>
              </a:srgbClr>
            </a:outerShdw>
          </a:effectLst>
        </p:spPr>
      </p:sp>
      <p:sp>
        <p:nvSpPr>
          <p:cNvPr id="17" name="Full audit trail circle"/>
          <p:cNvSpPr/>
          <p:nvPr/>
        </p:nvSpPr>
        <p:spPr>
          <a:xfrm>
            <a:off x="8366760" y="1645920"/>
            <a:ext cx="475488" cy="475488"/>
          </a:xfrm>
          <a:prstGeom prst="ellipse">
            <a:avLst/>
          </a:prstGeom>
          <a:solidFill>
            <a:schemeClr val="accent1"/>
          </a:solidFill>
          <a:ln/>
        </p:spPr>
      </p:sp>
      <p:pic>
        <p:nvPicPr>
          <p:cNvPr id="18" name="Full audit trail icon" descr="preencoded.png">    </p:cNvPr>
          <p:cNvPicPr>
            <a:picLocks noChangeAspect="1"/>
          </p:cNvPicPr>
          <p:nvPr/>
        </p:nvPicPr>
        <p:blipFill>
          <a:blip r:embed="rId3"/>
          <a:stretch>
            <a:fillRect/>
          </a:stretch>
        </p:blipFill>
        <p:spPr>
          <a:xfrm>
            <a:off x="8490387" y="1769547"/>
            <a:ext cx="228234" cy="228234"/>
          </a:xfrm>
          <a:prstGeom prst="rect">
            <a:avLst/>
          </a:prstGeom>
        </p:spPr>
      </p:pic>
      <p:sp>
        <p:nvSpPr>
          <p:cNvPr id="19" name="Full audit trail title"/>
          <p:cNvSpPr txBox="1"/>
          <p:nvPr/>
        </p:nvSpPr>
        <p:spPr>
          <a:xfrm>
            <a:off x="9006840" y="1645920"/>
            <a:ext cx="2560320" cy="475488"/>
          </a:xfrm>
          <a:prstGeom prst="rect">
            <a:avLst/>
          </a:prstGeom>
          <a:noFill/>
          <a:ln/>
        </p:spPr>
        <p:txBody>
          <a:bodyPr wrap="square" lIns="0" tIns="0" rIns="0" bIns="0" rtlCol="0" anchor="ctr"/>
          <a:lstStyle/>
          <a:p>
            <a:pPr indent="0" marL="0">
              <a:buNone/>
            </a:pPr>
            <a:r>
              <a:rPr lang="en-US" sz="1700" b="1" dirty="0">
                <a:solidFill>
                  <a:schemeClr val="accent1"/>
                </a:solidFill>
              </a:rPr>
              <a:t>5  </a:t>
            </a:r>
            <a:pPr indent="0" marL="0">
              <a:buNone/>
            </a:pPr>
            <a:r>
              <a:rPr lang="en-US" sz="1700" b="1" dirty="0">
                <a:solidFill>
                  <a:schemeClr val="tx2"/>
                </a:solidFill>
              </a:rPr>
              <a:t>Full audit trail</a:t>
            </a:r>
            <a:endParaRPr lang="en-US" sz="1700" dirty="0"/>
          </a:p>
        </p:txBody>
      </p:sp>
      <p:sp>
        <p:nvSpPr>
          <p:cNvPr id="20" name="Full audit trail genie"/>
          <p:cNvSpPr txBox="1"/>
          <p:nvPr/>
        </p:nvSpPr>
        <p:spPr>
          <a:xfrm>
            <a:off x="8412480" y="2258568"/>
            <a:ext cx="3017520" cy="457200"/>
          </a:xfrm>
          <a:prstGeom prst="rect">
            <a:avLst/>
          </a:prstGeom>
          <a:noFill/>
          <a:ln/>
        </p:spPr>
        <p:txBody>
          <a:bodyPr wrap="square" lIns="0" tIns="0" rIns="0" bIns="0" rtlCol="0" anchor="t"/>
          <a:lstStyle/>
          <a:p>
            <a:pPr indent="0" marL="0">
              <a:buNone/>
            </a:pPr>
            <a:r>
              <a:rPr lang="en-US" sz="1150" b="1" dirty="0">
                <a:solidFill>
                  <a:schemeClr val="accent5"/>
                </a:solidFill>
              </a:rPr>
              <a:t>Genie alone:  </a:t>
            </a:r>
            <a:pPr indent="0" marL="0">
              <a:buNone/>
            </a:pPr>
            <a:r>
              <a:rPr lang="en-US" sz="1150" i="1" dirty="0">
                <a:solidFill>
                  <a:schemeClr val="accent5"/>
                </a:solidFill>
              </a:rPr>
              <a:t>no per-question trace, quality trend or usage view for the owner.</a:t>
            </a:r>
            <a:endParaRPr lang="en-US" sz="1150" dirty="0"/>
          </a:p>
        </p:txBody>
      </p:sp>
      <p:sp>
        <p:nvSpPr>
          <p:cNvPr id="21" name="Full audit trail bullets"/>
          <p:cNvSpPr txBox="1"/>
          <p:nvPr/>
        </p:nvSpPr>
        <p:spPr>
          <a:xfrm>
            <a:off x="8412480" y="2834640"/>
            <a:ext cx="3063240" cy="324612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334155"/>
                </a:solidFill>
              </a:rPr>
              <a:t>A 9-stage trace per question: </a:t>
            </a:r>
            <a:pPr indent="0" marL="0">
              <a:spcAft>
                <a:spcPts val="500"/>
              </a:spcAft>
              <a:buNone/>
            </a:pPr>
            <a:r>
              <a:rPr lang="en-US" sz="1150" dirty="0">
                <a:solidFill>
                  <a:srgbClr val="334155"/>
                </a:solidFill>
              </a:rPr>
              <a:t>routing, guardrails, cache, plan, data, verification, answer, delivery, log; models, tokens and time.</a:t>
            </a:r>
            <a:endParaRPr lang="en-US" sz="1150" dirty="0"/>
          </a:p>
          <a:p>
            <a:pPr marL="177800" indent="-177800">
              <a:spcAft>
                <a:spcPts val="500"/>
              </a:spcAft>
              <a:buSzPct val="100000"/>
              <a:buChar char="•"/>
            </a:pPr>
            <a:r>
              <a:rPr lang="en-US" sz="1150" b="1" dirty="0">
                <a:solidFill>
                  <a:srgbClr val="334155"/>
                </a:solidFill>
              </a:rPr>
              <a:t>Quality over time, </a:t>
            </a:r>
            <a:pPr indent="0" marL="0">
              <a:spcAft>
                <a:spcPts val="500"/>
              </a:spcAft>
              <a:buNone/>
            </a:pPr>
            <a:r>
              <a:rPr lang="en-US" sz="1150" dirty="0">
                <a:solidFill>
                  <a:srgbClr val="334155"/>
                </a:solidFill>
              </a:rPr>
              <a:t>with a review queue for low scores and 👎 with reasons.</a:t>
            </a:r>
            <a:endParaRPr lang="en-US" sz="1150" dirty="0"/>
          </a:p>
          <a:p>
            <a:pPr marL="177800" indent="-177800">
              <a:spcAft>
                <a:spcPts val="500"/>
              </a:spcAft>
              <a:buSzPct val="100000"/>
              <a:buChar char="•"/>
            </a:pPr>
            <a:r>
              <a:rPr lang="en-US" sz="1150" b="1" dirty="0">
                <a:solidFill>
                  <a:srgbClr val="334155"/>
                </a:solidFill>
              </a:rPr>
              <a:t>Latency, routing, drift and security </a:t>
            </a:r>
            <a:pPr indent="0" marL="0">
              <a:spcAft>
                <a:spcPts val="500"/>
              </a:spcAft>
              <a:buNone/>
            </a:pPr>
            <a:r>
              <a:rPr lang="en-US" sz="1150" dirty="0">
                <a:solidFill>
                  <a:srgbClr val="334155"/>
                </a:solidFill>
              </a:rPr>
              <a:t>views.</a:t>
            </a:r>
            <a:endParaRPr lang="en-US" sz="1150" dirty="0"/>
          </a:p>
          <a:p>
            <a:pPr marL="177800" indent="-177800">
              <a:spcAft>
                <a:spcPts val="500"/>
              </a:spcAft>
              <a:buSzPct val="100000"/>
              <a:buChar char="•"/>
            </a:pPr>
            <a:r>
              <a:rPr lang="en-US" sz="1150" b="1" dirty="0">
                <a:solidFill>
                  <a:srgbClr val="334155"/>
                </a:solidFill>
              </a:rPr>
              <a:t>Automated evaluations: </a:t>
            </a:r>
            <a:pPr indent="0" marL="0">
              <a:spcAft>
                <a:spcPts val="500"/>
              </a:spcAft>
              <a:buNone/>
            </a:pPr>
            <a:r>
              <a:rPr lang="en-US" sz="1150" dirty="0">
                <a:solidFill>
                  <a:srgbClr val="334155"/>
                </a:solidFill>
              </a:rPr>
              <a:t>accuracy, guardrail, policy and routing suites with history.</a:t>
            </a:r>
            <a:endParaRPr lang="en-US" sz="1150" dirty="0"/>
          </a:p>
          <a:p>
            <a:pPr marL="177800" indent="-177800">
              <a:spcAft>
                <a:spcPts val="500"/>
              </a:spcAft>
              <a:buSzPct val="100000"/>
              <a:buChar char="•"/>
            </a:pPr>
            <a:r>
              <a:rPr lang="en-US" sz="1150" b="1" dirty="0">
                <a:solidFill>
                  <a:srgbClr val="334155"/>
                </a:solidFill>
              </a:rPr>
              <a:t>Databricks cost </a:t>
            </a:r>
            <a:pPr indent="0" marL="0">
              <a:spcAft>
                <a:spcPts val="500"/>
              </a:spcAft>
              <a:buNone/>
            </a:pPr>
            <a:r>
              <a:rPr lang="en-US" sz="1150" dirty="0">
                <a:solidFill>
                  <a:srgbClr val="334155"/>
                </a:solidFill>
              </a:rPr>
              <a:t>since day 1, by service, this project only.</a:t>
            </a:r>
            <a:endParaRPr lang="en-US" sz="1150" dirty="0"/>
          </a:p>
        </p:txBody>
      </p:sp>
      <p:sp>
        <p:nvSpPr>
          <p:cNvPr id="22" name="Demo note"/>
          <p:cNvSpPr txBox="1"/>
          <p:nvPr/>
        </p:nvSpPr>
        <p:spPr>
          <a:xfrm>
            <a:off x="7772400" y="6446520"/>
            <a:ext cx="3383280" cy="228600"/>
          </a:xfrm>
          <a:prstGeom prst="rect">
            <a:avLst/>
          </a:prstGeom>
          <a:noFill/>
          <a:ln/>
        </p:spPr>
        <p:txBody>
          <a:bodyPr wrap="square" lIns="0" tIns="0" rIns="0" bIns="0" rtlCol="0" anchor="ctr"/>
          <a:lstStyle/>
          <a:p>
            <a:pPr algn="r" indent="0" marL="0">
              <a:buNone/>
            </a:pPr>
            <a:r>
              <a:rPr lang="en-US" sz="900" i="1" dirty="0">
                <a:solidFill>
                  <a:schemeClr val="accent5"/>
                </a:solidFill>
              </a:rPr>
              <a:t>Command Center figures are from the demo data.</a:t>
            </a:r>
            <a:endParaRPr lang="en-US" sz="9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lIns="0" tIns="0" rIns="0" bIns="0" rtlCol="0" anchor="ctr"/>
          <a:lstStyle/>
          <a:p>
            <a:pPr algn="l" indent="0" marL="0">
              <a:buNone/>
            </a:pPr>
            <a:r>
              <a:rPr lang="en-US" sz="2800" b="1" dirty="0">
                <a:solidFill>
                  <a:schemeClr val="tx2"/>
                </a:solidFill>
              </a:rPr>
              <a:t>Built for collections, secure to roll out, and cheap to run</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lIns="0" tIns="0" rIns="0" bIns="0" rtlCol="0" anchor="t"/>
          <a:lstStyle/>
          <a:p>
            <a:pPr algn="l" indent="0" marL="0">
              <a:buNone/>
            </a:pPr>
            <a:r>
              <a:rPr lang="en-US" sz="1300" dirty="0">
                <a:solidFill>
                  <a:schemeClr val="accent5"/>
                </a:solidFill>
              </a:rPr>
              <a:t>Everything a production rollout needs, beyond the question box.</a:t>
            </a:r>
            <a:endParaRPr lang="en-US" sz="1300" dirty="0"/>
          </a:p>
        </p:txBody>
      </p:sp>
      <p:sp>
        <p:nvSpPr>
          <p:cNvPr id="4" name="Built for collections card"/>
          <p:cNvSpPr/>
          <p:nvPr/>
        </p:nvSpPr>
        <p:spPr>
          <a:xfrm>
            <a:off x="457200" y="1417320"/>
            <a:ext cx="3566160" cy="2331720"/>
          </a:xfrm>
          <a:prstGeom prst="roundRect">
            <a:avLst>
              <a:gd name="adj" fmla="val 4706"/>
            </a:avLst>
          </a:prstGeom>
          <a:solidFill>
            <a:schemeClr val="bg2"/>
          </a:solidFill>
          <a:ln/>
          <a:effectLst>
            <a:outerShdw sx="100000" sy="100000" kx="0" ky="0" algn="bl" rotWithShape="0" blurRad="76200" dist="25400" dir="5400000">
              <a:srgbClr val="0B2545">
                <a:alpha val="12000"/>
              </a:srgbClr>
            </a:outerShdw>
          </a:effectLst>
        </p:spPr>
      </p:sp>
      <p:sp>
        <p:nvSpPr>
          <p:cNvPr id="5" name="Built for collections circle"/>
          <p:cNvSpPr/>
          <p:nvPr/>
        </p:nvSpPr>
        <p:spPr>
          <a:xfrm>
            <a:off x="685800" y="1645920"/>
            <a:ext cx="457200" cy="457200"/>
          </a:xfrm>
          <a:prstGeom prst="ellipse">
            <a:avLst/>
          </a:prstGeom>
          <a:solidFill>
            <a:schemeClr val="accent1"/>
          </a:solidFill>
          <a:ln/>
        </p:spPr>
      </p:sp>
      <p:pic>
        <p:nvPicPr>
          <p:cNvPr id="6" name="Built for collections icon" descr="preencoded.png">    </p:cNvPr>
          <p:cNvPicPr>
            <a:picLocks noChangeAspect="1"/>
          </p:cNvPicPr>
          <p:nvPr/>
        </p:nvPicPr>
        <p:blipFill>
          <a:blip r:embed="rId1"/>
          <a:stretch>
            <a:fillRect/>
          </a:stretch>
        </p:blipFill>
        <p:spPr>
          <a:xfrm>
            <a:off x="804672" y="1764792"/>
            <a:ext cx="219456" cy="219456"/>
          </a:xfrm>
          <a:prstGeom prst="rect">
            <a:avLst/>
          </a:prstGeom>
        </p:spPr>
      </p:pic>
      <p:sp>
        <p:nvSpPr>
          <p:cNvPr id="7" name="Built for collections title"/>
          <p:cNvSpPr txBox="1"/>
          <p:nvPr/>
        </p:nvSpPr>
        <p:spPr>
          <a:xfrm>
            <a:off x="1280160" y="1636776"/>
            <a:ext cx="2606040" cy="475488"/>
          </a:xfrm>
          <a:prstGeom prst="rect">
            <a:avLst/>
          </a:prstGeom>
          <a:noFill/>
          <a:ln/>
        </p:spPr>
        <p:txBody>
          <a:bodyPr wrap="square" lIns="0" tIns="0" rIns="0" bIns="0" rtlCol="0" anchor="ctr"/>
          <a:lstStyle/>
          <a:p>
            <a:pPr indent="0" marL="0">
              <a:buNone/>
            </a:pPr>
            <a:r>
              <a:rPr lang="en-US" sz="1600" b="1" dirty="0">
                <a:solidFill>
                  <a:schemeClr val="accent1"/>
                </a:solidFill>
              </a:rPr>
              <a:t>6  </a:t>
            </a:r>
            <a:pPr indent="0" marL="0">
              <a:buNone/>
            </a:pPr>
            <a:r>
              <a:rPr lang="en-US" sz="1600" b="1" dirty="0">
                <a:solidFill>
                  <a:schemeClr val="tx2"/>
                </a:solidFill>
              </a:rPr>
              <a:t>Built for collections</a:t>
            </a:r>
            <a:endParaRPr lang="en-US" sz="1600" dirty="0"/>
          </a:p>
        </p:txBody>
      </p:sp>
      <p:sp>
        <p:nvSpPr>
          <p:cNvPr id="8" name="Built for collections text"/>
          <p:cNvSpPr txBox="1"/>
          <p:nvPr/>
        </p:nvSpPr>
        <p:spPr>
          <a:xfrm>
            <a:off x="731520" y="2240280"/>
            <a:ext cx="3063240" cy="1371600"/>
          </a:xfrm>
          <a:prstGeom prst="rect">
            <a:avLst/>
          </a:prstGeom>
          <a:noFill/>
          <a:ln/>
        </p:spPr>
        <p:txBody>
          <a:bodyPr wrap="square" lIns="0" tIns="0" rIns="0" bIns="0" rtlCol="0" anchor="t"/>
          <a:lstStyle/>
          <a:p>
            <a:pPr indent="0" marL="0">
              <a:buNone/>
            </a:pPr>
            <a:r>
              <a:rPr lang="en-US" sz="1150" dirty="0">
                <a:solidFill>
                  <a:srgbClr val="334155"/>
                </a:solidFill>
              </a:rPr>
              <a:t>DPD buckets, roll-forward, promise outcomes, contact strategy, over-contact risk, like-for-like strategies and collector scorecards. A recommended action for every priority account; vulnerable and disputing customers first. No forecasting: the outlook comes from the promise pipeline.</a:t>
            </a:r>
            <a:endParaRPr lang="en-US" sz="1150" dirty="0"/>
          </a:p>
        </p:txBody>
      </p:sp>
      <p:sp>
        <p:nvSpPr>
          <p:cNvPr id="9" name="Users never touch the data card"/>
          <p:cNvSpPr/>
          <p:nvPr/>
        </p:nvSpPr>
        <p:spPr>
          <a:xfrm>
            <a:off x="4297680" y="1417320"/>
            <a:ext cx="3566160" cy="2331720"/>
          </a:xfrm>
          <a:prstGeom prst="roundRect">
            <a:avLst>
              <a:gd name="adj" fmla="val 4706"/>
            </a:avLst>
          </a:prstGeom>
          <a:solidFill>
            <a:schemeClr val="bg2"/>
          </a:solidFill>
          <a:ln/>
          <a:effectLst>
            <a:outerShdw sx="100000" sy="100000" kx="0" ky="0" algn="bl" rotWithShape="0" blurRad="76200" dist="25400" dir="5400000">
              <a:srgbClr val="0B2545">
                <a:alpha val="12000"/>
              </a:srgbClr>
            </a:outerShdw>
          </a:effectLst>
        </p:spPr>
      </p:sp>
      <p:sp>
        <p:nvSpPr>
          <p:cNvPr id="10" name="Users never touch the data circle"/>
          <p:cNvSpPr/>
          <p:nvPr/>
        </p:nvSpPr>
        <p:spPr>
          <a:xfrm>
            <a:off x="4526280" y="1645920"/>
            <a:ext cx="457200" cy="457200"/>
          </a:xfrm>
          <a:prstGeom prst="ellipse">
            <a:avLst/>
          </a:prstGeom>
          <a:solidFill>
            <a:schemeClr val="accent1"/>
          </a:solidFill>
          <a:ln/>
        </p:spPr>
      </p:sp>
      <p:pic>
        <p:nvPicPr>
          <p:cNvPr id="11" name="Users never touch the data icon" descr="preencoded.png">    </p:cNvPr>
          <p:cNvPicPr>
            <a:picLocks noChangeAspect="1"/>
          </p:cNvPicPr>
          <p:nvPr/>
        </p:nvPicPr>
        <p:blipFill>
          <a:blip r:embed="rId2"/>
          <a:stretch>
            <a:fillRect/>
          </a:stretch>
        </p:blipFill>
        <p:spPr>
          <a:xfrm>
            <a:off x="4645152" y="1764792"/>
            <a:ext cx="219456" cy="219456"/>
          </a:xfrm>
          <a:prstGeom prst="rect">
            <a:avLst/>
          </a:prstGeom>
        </p:spPr>
      </p:pic>
      <p:sp>
        <p:nvSpPr>
          <p:cNvPr id="12" name="Users never touch the data title"/>
          <p:cNvSpPr txBox="1"/>
          <p:nvPr/>
        </p:nvSpPr>
        <p:spPr>
          <a:xfrm>
            <a:off x="5120640" y="1636776"/>
            <a:ext cx="2606040" cy="475488"/>
          </a:xfrm>
          <a:prstGeom prst="rect">
            <a:avLst/>
          </a:prstGeom>
          <a:noFill/>
          <a:ln/>
        </p:spPr>
        <p:txBody>
          <a:bodyPr wrap="square" lIns="0" tIns="0" rIns="0" bIns="0" rtlCol="0" anchor="ctr"/>
          <a:lstStyle/>
          <a:p>
            <a:pPr indent="0" marL="0">
              <a:buNone/>
            </a:pPr>
            <a:r>
              <a:rPr lang="en-US" sz="1600" b="1" dirty="0">
                <a:solidFill>
                  <a:schemeClr val="accent1"/>
                </a:solidFill>
              </a:rPr>
              <a:t>7  </a:t>
            </a:r>
            <a:pPr indent="0" marL="0">
              <a:buNone/>
            </a:pPr>
            <a:r>
              <a:rPr lang="en-US" sz="1600" b="1" dirty="0">
                <a:solidFill>
                  <a:schemeClr val="tx2"/>
                </a:solidFill>
              </a:rPr>
              <a:t>Users never touch the data</a:t>
            </a:r>
            <a:endParaRPr lang="en-US" sz="1600" dirty="0"/>
          </a:p>
        </p:txBody>
      </p:sp>
      <p:sp>
        <p:nvSpPr>
          <p:cNvPr id="13" name="Users never touch the data text"/>
          <p:cNvSpPr txBox="1"/>
          <p:nvPr/>
        </p:nvSpPr>
        <p:spPr>
          <a:xfrm>
            <a:off x="4572000" y="2240280"/>
            <a:ext cx="3063240" cy="1371600"/>
          </a:xfrm>
          <a:prstGeom prst="rect">
            <a:avLst/>
          </a:prstGeom>
          <a:noFill/>
          <a:ln/>
        </p:spPr>
        <p:txBody>
          <a:bodyPr wrap="square" lIns="0" tIns="0" rIns="0" bIns="0" rtlCol="0" anchor="t"/>
          <a:lstStyle/>
          <a:p>
            <a:pPr indent="0" marL="0">
              <a:buNone/>
            </a:pPr>
            <a:r>
              <a:rPr lang="en-US" sz="1150" dirty="0">
                <a:solidFill>
                  <a:srgbClr val="334155"/>
                </a:solidFill>
              </a:rPr>
              <a:t>With Genie alone, every user needs the Genie space, the warehouse and the tables. With LensS, users get one app permission; the app’s own identity does the rest. Access is a group: remove someone and everything goes.</a:t>
            </a:r>
            <a:endParaRPr lang="en-US" sz="1150" dirty="0"/>
          </a:p>
        </p:txBody>
      </p:sp>
      <p:sp>
        <p:nvSpPr>
          <p:cNvPr id="14" name="Faster and cheaper to run card"/>
          <p:cNvSpPr/>
          <p:nvPr/>
        </p:nvSpPr>
        <p:spPr>
          <a:xfrm>
            <a:off x="8138160" y="1417320"/>
            <a:ext cx="3566160" cy="2331720"/>
          </a:xfrm>
          <a:prstGeom prst="roundRect">
            <a:avLst>
              <a:gd name="adj" fmla="val 4706"/>
            </a:avLst>
          </a:prstGeom>
          <a:solidFill>
            <a:schemeClr val="bg2"/>
          </a:solidFill>
          <a:ln/>
          <a:effectLst>
            <a:outerShdw sx="100000" sy="100000" kx="0" ky="0" algn="bl" rotWithShape="0" blurRad="76200" dist="25400" dir="5400000">
              <a:srgbClr val="0B2545">
                <a:alpha val="12000"/>
              </a:srgbClr>
            </a:outerShdw>
          </a:effectLst>
        </p:spPr>
      </p:sp>
      <p:sp>
        <p:nvSpPr>
          <p:cNvPr id="15" name="Faster and cheaper to run circle"/>
          <p:cNvSpPr/>
          <p:nvPr/>
        </p:nvSpPr>
        <p:spPr>
          <a:xfrm>
            <a:off x="8366760" y="1645920"/>
            <a:ext cx="457200" cy="457200"/>
          </a:xfrm>
          <a:prstGeom prst="ellipse">
            <a:avLst/>
          </a:prstGeom>
          <a:solidFill>
            <a:schemeClr val="accent1"/>
          </a:solidFill>
          <a:ln/>
        </p:spPr>
      </p:sp>
      <p:pic>
        <p:nvPicPr>
          <p:cNvPr id="16" name="Faster and cheaper to run icon" descr="preencoded.png">    </p:cNvPr>
          <p:cNvPicPr>
            <a:picLocks noChangeAspect="1"/>
          </p:cNvPicPr>
          <p:nvPr/>
        </p:nvPicPr>
        <p:blipFill>
          <a:blip r:embed="rId3"/>
          <a:stretch>
            <a:fillRect/>
          </a:stretch>
        </p:blipFill>
        <p:spPr>
          <a:xfrm>
            <a:off x="8485632" y="1764792"/>
            <a:ext cx="219456" cy="219456"/>
          </a:xfrm>
          <a:prstGeom prst="rect">
            <a:avLst/>
          </a:prstGeom>
        </p:spPr>
      </p:pic>
      <p:sp>
        <p:nvSpPr>
          <p:cNvPr id="17" name="Faster and cheaper to run title"/>
          <p:cNvSpPr txBox="1"/>
          <p:nvPr/>
        </p:nvSpPr>
        <p:spPr>
          <a:xfrm>
            <a:off x="8961120" y="1636776"/>
            <a:ext cx="2606040" cy="475488"/>
          </a:xfrm>
          <a:prstGeom prst="rect">
            <a:avLst/>
          </a:prstGeom>
          <a:noFill/>
          <a:ln/>
        </p:spPr>
        <p:txBody>
          <a:bodyPr wrap="square" lIns="0" tIns="0" rIns="0" bIns="0" rtlCol="0" anchor="ctr"/>
          <a:lstStyle/>
          <a:p>
            <a:pPr indent="0" marL="0">
              <a:buNone/>
            </a:pPr>
            <a:r>
              <a:rPr lang="en-US" sz="1600" b="1" dirty="0">
                <a:solidFill>
                  <a:schemeClr val="accent1"/>
                </a:solidFill>
              </a:rPr>
              <a:t>8  </a:t>
            </a:r>
            <a:pPr indent="0" marL="0">
              <a:buNone/>
            </a:pPr>
            <a:r>
              <a:rPr lang="en-US" sz="1600" b="1" dirty="0">
                <a:solidFill>
                  <a:schemeClr val="tx2"/>
                </a:solidFill>
              </a:rPr>
              <a:t>Faster and cheaper to run</a:t>
            </a:r>
            <a:endParaRPr lang="en-US" sz="1600" dirty="0"/>
          </a:p>
        </p:txBody>
      </p:sp>
      <p:sp>
        <p:nvSpPr>
          <p:cNvPr id="18" name="Faster and cheaper to run text"/>
          <p:cNvSpPr txBox="1"/>
          <p:nvPr/>
        </p:nvSpPr>
        <p:spPr>
          <a:xfrm>
            <a:off x="8412480" y="2240280"/>
            <a:ext cx="3063240" cy="1371600"/>
          </a:xfrm>
          <a:prstGeom prst="rect">
            <a:avLst/>
          </a:prstGeom>
          <a:noFill/>
          <a:ln/>
        </p:spPr>
        <p:txBody>
          <a:bodyPr wrap="square" lIns="0" tIns="0" rIns="0" bIns="0" rtlCol="0" anchor="t"/>
          <a:lstStyle/>
          <a:p>
            <a:pPr indent="0" marL="0">
              <a:buNone/>
            </a:pPr>
            <a:r>
              <a:rPr lang="en-US" sz="1150" dirty="0">
                <a:solidFill>
                  <a:srgbClr val="334155"/>
                </a:solidFill>
              </a:rPr>
              <a:t>An answer cache (exact and similar questions) answers repeats instantly and refreshes when data or Genie changes. The app stops itself after 60 idle minutes. The cost tab shows spend by service.</a:t>
            </a:r>
            <a:endParaRPr lang="en-US" sz="1150" dirty="0"/>
          </a:p>
        </p:txBody>
      </p:sp>
      <p:sp>
        <p:nvSpPr>
          <p:cNvPr id="19" name="A complete product card"/>
          <p:cNvSpPr/>
          <p:nvPr/>
        </p:nvSpPr>
        <p:spPr>
          <a:xfrm>
            <a:off x="457200" y="3950208"/>
            <a:ext cx="3566160" cy="2331720"/>
          </a:xfrm>
          <a:prstGeom prst="roundRect">
            <a:avLst>
              <a:gd name="adj" fmla="val 4706"/>
            </a:avLst>
          </a:prstGeom>
          <a:solidFill>
            <a:schemeClr val="bg2"/>
          </a:solidFill>
          <a:ln/>
          <a:effectLst>
            <a:outerShdw sx="100000" sy="100000" kx="0" ky="0" algn="bl" rotWithShape="0" blurRad="76200" dist="25400" dir="5400000">
              <a:srgbClr val="0B2545">
                <a:alpha val="12000"/>
              </a:srgbClr>
            </a:outerShdw>
          </a:effectLst>
        </p:spPr>
      </p:sp>
      <p:sp>
        <p:nvSpPr>
          <p:cNvPr id="20" name="A complete product circle"/>
          <p:cNvSpPr/>
          <p:nvPr/>
        </p:nvSpPr>
        <p:spPr>
          <a:xfrm>
            <a:off x="685800" y="4178808"/>
            <a:ext cx="457200" cy="457200"/>
          </a:xfrm>
          <a:prstGeom prst="ellipse">
            <a:avLst/>
          </a:prstGeom>
          <a:solidFill>
            <a:schemeClr val="accent1"/>
          </a:solidFill>
          <a:ln/>
        </p:spPr>
      </p:sp>
      <p:pic>
        <p:nvPicPr>
          <p:cNvPr id="21" name="A complete product icon" descr="preencoded.png">    </p:cNvPr>
          <p:cNvPicPr>
            <a:picLocks noChangeAspect="1"/>
          </p:cNvPicPr>
          <p:nvPr/>
        </p:nvPicPr>
        <p:blipFill>
          <a:blip r:embed="rId4"/>
          <a:stretch>
            <a:fillRect/>
          </a:stretch>
        </p:blipFill>
        <p:spPr>
          <a:xfrm>
            <a:off x="804672" y="4297680"/>
            <a:ext cx="219456" cy="219456"/>
          </a:xfrm>
          <a:prstGeom prst="rect">
            <a:avLst/>
          </a:prstGeom>
        </p:spPr>
      </p:pic>
      <p:sp>
        <p:nvSpPr>
          <p:cNvPr id="22" name="A complete product title"/>
          <p:cNvSpPr txBox="1"/>
          <p:nvPr/>
        </p:nvSpPr>
        <p:spPr>
          <a:xfrm>
            <a:off x="1280160" y="4169664"/>
            <a:ext cx="2606040" cy="475488"/>
          </a:xfrm>
          <a:prstGeom prst="rect">
            <a:avLst/>
          </a:prstGeom>
          <a:noFill/>
          <a:ln/>
        </p:spPr>
        <p:txBody>
          <a:bodyPr wrap="square" lIns="0" tIns="0" rIns="0" bIns="0" rtlCol="0" anchor="ctr"/>
          <a:lstStyle/>
          <a:p>
            <a:pPr indent="0" marL="0">
              <a:buNone/>
            </a:pPr>
            <a:r>
              <a:rPr lang="en-US" sz="1600" b="1" dirty="0">
                <a:solidFill>
                  <a:schemeClr val="accent1"/>
                </a:solidFill>
              </a:rPr>
              <a:t>9  </a:t>
            </a:r>
            <a:pPr indent="0" marL="0">
              <a:buNone/>
            </a:pPr>
            <a:r>
              <a:rPr lang="en-US" sz="1600" b="1" dirty="0">
                <a:solidFill>
                  <a:schemeClr val="tx2"/>
                </a:solidFill>
              </a:rPr>
              <a:t>A complete product</a:t>
            </a:r>
            <a:endParaRPr lang="en-US" sz="1600" dirty="0"/>
          </a:p>
        </p:txBody>
      </p:sp>
      <p:sp>
        <p:nvSpPr>
          <p:cNvPr id="23" name="A complete product text"/>
          <p:cNvSpPr txBox="1"/>
          <p:nvPr/>
        </p:nvSpPr>
        <p:spPr>
          <a:xfrm>
            <a:off x="731520" y="4773168"/>
            <a:ext cx="3063240" cy="1371600"/>
          </a:xfrm>
          <a:prstGeom prst="rect">
            <a:avLst/>
          </a:prstGeom>
          <a:noFill/>
          <a:ln/>
        </p:spPr>
        <p:txBody>
          <a:bodyPr wrap="square" lIns="0" tIns="0" rIns="0" bIns="0" rtlCol="0" anchor="t"/>
          <a:lstStyle/>
          <a:p>
            <a:pPr indent="0" marL="0">
              <a:buNone/>
            </a:pPr>
            <a:r>
              <a:rPr lang="en-US" sz="1150" dirty="0">
                <a:solidFill>
                  <a:srgbClr val="334155"/>
                </a:solidFill>
              </a:rPr>
              <a:t>Saved chat history, an Explorer that reconciles exactly to the Command Center, 👍/👎 feedback into review, PDF export with charts, “answer ready” alerts, voice input, and a built-in guide so Genie is never asked about the app.</a:t>
            </a:r>
            <a:endParaRPr lang="en-US" sz="1150" dirty="0"/>
          </a:p>
        </p:txBody>
      </p:sp>
      <p:sp>
        <p:nvSpPr>
          <p:cNvPr id="24" name="Enterprise delivery card"/>
          <p:cNvSpPr/>
          <p:nvPr/>
        </p:nvSpPr>
        <p:spPr>
          <a:xfrm>
            <a:off x="4297680" y="3950208"/>
            <a:ext cx="3566160" cy="2331720"/>
          </a:xfrm>
          <a:prstGeom prst="roundRect">
            <a:avLst>
              <a:gd name="adj" fmla="val 4706"/>
            </a:avLst>
          </a:prstGeom>
          <a:solidFill>
            <a:schemeClr val="bg2"/>
          </a:solidFill>
          <a:ln/>
          <a:effectLst>
            <a:outerShdw sx="100000" sy="100000" kx="0" ky="0" algn="bl" rotWithShape="0" blurRad="76200" dist="25400" dir="5400000">
              <a:srgbClr val="0B2545">
                <a:alpha val="12000"/>
              </a:srgbClr>
            </a:outerShdw>
          </a:effectLst>
        </p:spPr>
      </p:sp>
      <p:sp>
        <p:nvSpPr>
          <p:cNvPr id="25" name="Enterprise delivery circle"/>
          <p:cNvSpPr/>
          <p:nvPr/>
        </p:nvSpPr>
        <p:spPr>
          <a:xfrm>
            <a:off x="4526280" y="4178808"/>
            <a:ext cx="457200" cy="457200"/>
          </a:xfrm>
          <a:prstGeom prst="ellipse">
            <a:avLst/>
          </a:prstGeom>
          <a:solidFill>
            <a:schemeClr val="accent1"/>
          </a:solidFill>
          <a:ln/>
        </p:spPr>
      </p:sp>
      <p:pic>
        <p:nvPicPr>
          <p:cNvPr id="26" name="Enterprise delivery icon" descr="preencoded.png">    </p:cNvPr>
          <p:cNvPicPr>
            <a:picLocks noChangeAspect="1"/>
          </p:cNvPicPr>
          <p:nvPr/>
        </p:nvPicPr>
        <p:blipFill>
          <a:blip r:embed="rId5"/>
          <a:stretch>
            <a:fillRect/>
          </a:stretch>
        </p:blipFill>
        <p:spPr>
          <a:xfrm>
            <a:off x="4645152" y="4297680"/>
            <a:ext cx="219456" cy="219456"/>
          </a:xfrm>
          <a:prstGeom prst="rect">
            <a:avLst/>
          </a:prstGeom>
        </p:spPr>
      </p:pic>
      <p:sp>
        <p:nvSpPr>
          <p:cNvPr id="27" name="Enterprise delivery title"/>
          <p:cNvSpPr txBox="1"/>
          <p:nvPr/>
        </p:nvSpPr>
        <p:spPr>
          <a:xfrm>
            <a:off x="5120640" y="4169664"/>
            <a:ext cx="2606040" cy="475488"/>
          </a:xfrm>
          <a:prstGeom prst="rect">
            <a:avLst/>
          </a:prstGeom>
          <a:noFill/>
          <a:ln/>
        </p:spPr>
        <p:txBody>
          <a:bodyPr wrap="square" lIns="0" tIns="0" rIns="0" bIns="0" rtlCol="0" anchor="ctr"/>
          <a:lstStyle/>
          <a:p>
            <a:pPr indent="0" marL="0">
              <a:buNone/>
            </a:pPr>
            <a:r>
              <a:rPr lang="en-US" sz="1600" b="1" dirty="0">
                <a:solidFill>
                  <a:schemeClr val="accent1"/>
                </a:solidFill>
              </a:rPr>
              <a:t>10  </a:t>
            </a:r>
            <a:pPr indent="0" marL="0">
              <a:buNone/>
            </a:pPr>
            <a:r>
              <a:rPr lang="en-US" sz="1600" b="1" dirty="0">
                <a:solidFill>
                  <a:schemeClr val="tx2"/>
                </a:solidFill>
              </a:rPr>
              <a:t>Enterprise delivery</a:t>
            </a:r>
            <a:endParaRPr lang="en-US" sz="1600" dirty="0"/>
          </a:p>
        </p:txBody>
      </p:sp>
      <p:sp>
        <p:nvSpPr>
          <p:cNvPr id="28" name="Enterprise delivery text"/>
          <p:cNvSpPr txBox="1"/>
          <p:nvPr/>
        </p:nvSpPr>
        <p:spPr>
          <a:xfrm>
            <a:off x="4572000" y="4773168"/>
            <a:ext cx="3063240" cy="1371600"/>
          </a:xfrm>
          <a:prstGeom prst="rect">
            <a:avLst/>
          </a:prstGeom>
          <a:noFill/>
          <a:ln/>
        </p:spPr>
        <p:txBody>
          <a:bodyPr wrap="square" lIns="0" tIns="0" rIns="0" bIns="0" rtlCol="0" anchor="t"/>
          <a:lstStyle/>
          <a:p>
            <a:pPr indent="0" marL="0">
              <a:buNone/>
            </a:pPr>
            <a:r>
              <a:rPr lang="en-US" sz="1150" dirty="0">
                <a:solidFill>
                  <a:srgbClr val="334155"/>
                </a:solidFill>
              </a:rPr>
              <a:t>One-command deploy of data, views, rules, Genie space (as code), database, app and permissions. New versions run side by side with instant rollback. Every release passes a 30-check smoke test, a 40-case routing evaluation and live conversation tests.</a:t>
            </a:r>
            <a:endParaRPr lang="en-US" sz="1150" dirty="0"/>
          </a:p>
        </p:txBody>
      </p:sp>
      <p:sp>
        <p:nvSpPr>
          <p:cNvPr id="29" name="Takeaway"/>
          <p:cNvSpPr/>
          <p:nvPr/>
        </p:nvSpPr>
        <p:spPr>
          <a:xfrm>
            <a:off x="8138160" y="3950208"/>
            <a:ext cx="3566160" cy="2331720"/>
          </a:xfrm>
          <a:prstGeom prst="roundRect">
            <a:avLst>
              <a:gd name="adj" fmla="val 4706"/>
            </a:avLst>
          </a:prstGeom>
          <a:solidFill>
            <a:schemeClr val="tx2"/>
          </a:solidFill>
          <a:ln/>
        </p:spPr>
      </p:sp>
      <p:sp>
        <p:nvSpPr>
          <p:cNvPr id="30" name="Takeaway label"/>
          <p:cNvSpPr txBox="1"/>
          <p:nvPr/>
        </p:nvSpPr>
        <p:spPr>
          <a:xfrm>
            <a:off x="8412480" y="4224528"/>
            <a:ext cx="30175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THE TAKEAWAY</a:t>
            </a:r>
            <a:endParaRPr lang="en-US" sz="1100" dirty="0"/>
          </a:p>
        </p:txBody>
      </p:sp>
      <p:sp>
        <p:nvSpPr>
          <p:cNvPr id="31" name="Takeaway text"/>
          <p:cNvSpPr txBox="1"/>
          <p:nvPr/>
        </p:nvSpPr>
        <p:spPr>
          <a:xfrm>
            <a:off x="8412480" y="4590288"/>
            <a:ext cx="3017520" cy="1463040"/>
          </a:xfrm>
          <a:prstGeom prst="rect">
            <a:avLst/>
          </a:prstGeom>
          <a:noFill/>
          <a:ln/>
        </p:spPr>
        <p:txBody>
          <a:bodyPr wrap="square" lIns="0" tIns="0" rIns="0" bIns="0" rtlCol="0" anchor="t"/>
          <a:lstStyle/>
          <a:p>
            <a:pPr indent="0" marL="0">
              <a:buNone/>
            </a:pPr>
            <a:r>
              <a:rPr lang="en-US" sz="1500" b="1" dirty="0">
                <a:solidFill>
                  <a:schemeClr val="bg1"/>
                </a:solidFill>
              </a:rPr>
              <a:t>Genie is one component. LensS is the governed, measured, secure collections product built around it, ready for real users from day one.</a:t>
            </a:r>
            <a:endParaRPr lang="en-US" sz="15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566928"/>
          </a:xfrm>
          <a:prstGeom prst="rect">
            <a:avLst/>
          </a:prstGeom>
          <a:noFill/>
          <a:ln/>
        </p:spPr>
        <p:txBody>
          <a:bodyPr wrap="square" lIns="0" tIns="0" rIns="0" bIns="0" rtlCol="0" anchor="ctr"/>
          <a:lstStyle/>
          <a:p>
            <a:pPr algn="l" indent="0" marL="0">
              <a:buNone/>
            </a:pPr>
            <a:r>
              <a:rPr lang="en-US" sz="2800" b="1" dirty="0">
                <a:solidFill>
                  <a:schemeClr val="tx2"/>
                </a:solidFill>
              </a:rPr>
              <a:t>Genie alone vs LensS on Databricks</a:t>
            </a:r>
            <a:endParaRPr lang="en-US" sz="2800" dirty="0"/>
          </a:p>
        </p:txBody>
      </p:sp>
      <p:sp>
        <p:nvSpPr>
          <p:cNvPr id="3" name="Text 0"/>
          <p:cNvSpPr/>
          <p:nvPr>
            <p:ph idx="101" type="body" hasCustomPrompt="1"/>
          </p:nvPr>
        </p:nvSpPr>
        <p:spPr>
          <a:xfrm>
            <a:off x="457200" y="914400"/>
            <a:ext cx="11247120" cy="329184"/>
          </a:xfrm>
          <a:prstGeom prst="rect">
            <a:avLst/>
          </a:prstGeom>
          <a:noFill/>
          <a:ln/>
        </p:spPr>
        <p:txBody>
          <a:bodyPr wrap="square" lIns="0" tIns="0" rIns="0" bIns="0" rtlCol="0" anchor="t"/>
          <a:lstStyle/>
          <a:p>
            <a:pPr algn="l" indent="0" marL="0">
              <a:buNone/>
            </a:pPr>
            <a:r>
              <a:rPr lang="en-US" sz="1300" dirty="0">
                <a:solidFill>
                  <a:schemeClr val="accent5"/>
                </a:solidFill>
              </a:rPr>
              <a:t>Same engine underneath; very different outcome for the business.</a:t>
            </a:r>
            <a:endParaRPr lang="en-US" sz="13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457200" y="1417320"/>
          <a:ext cx="7680960" cy="914400"/>
        </p:xfrm>
        <a:graphic>
          <a:graphicData uri="http://schemas.openxmlformats.org/drawingml/2006/table">
            <a:tbl>
              <a:tblPr/>
              <a:tblGrid>
                <a:gridCol w="2971800"/>
                <a:gridCol w="1874520"/>
                <a:gridCol w="2834640"/>
              </a:tblGrid>
              <a:tr h="365760">
                <a:tc>
                  <a:txBody>
                    <a:bodyPr/>
                    <a:lstStyle/>
                    <a:p>
                      <a:pPr indent="0" marL="0">
                        <a:buNone/>
                      </a:pPr>
                      <a:r>
                        <a:rPr lang="en-US" sz="1200" b="1" dirty="0">
                          <a:solidFill>
                            <a:srgbClr val="FFFFFF"/>
                          </a:solidFill>
                        </a:rPr>
                        <a:t>Capability</a:t>
                      </a:r>
                      <a:endParaRPr lang="en-US" sz="12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Genie on its own</a:t>
                      </a:r>
                      <a:endParaRPr lang="en-US" sz="12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LensS on Databricks</a:t>
                      </a:r>
                      <a:endParaRPr lang="en-US" sz="12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2545"/>
                    </a:solidFill>
                  </a:tcPr>
                </a:tc>
              </a:tr>
              <a:tr h="365760">
                <a:tc>
                  <a:txBody>
                    <a:bodyPr/>
                    <a:lstStyle/>
                    <a:p>
                      <a:pPr indent="0" marL="0">
                        <a:buNone/>
                      </a:pPr>
                      <a:r>
                        <a:rPr lang="en-US" sz="1100" b="1" dirty="0">
                          <a:solidFill>
                            <a:srgbClr val="0B2545"/>
                          </a:solidFill>
                        </a:rPr>
                        <a:t>Answers questions in natural language</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Yes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Yes, Genie is the engine</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Governed, certified collections data layer</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Built separately by the team</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Included: certified views, metric views, 22 rules as data</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2545"/>
                          </a:solidFill>
                        </a:rPr>
                        <a:t>Every figure checked against the data</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Reconciliation plus an AI quality judge</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Quick and deep analysis in one conversation</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Separate modes and memory</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One conversation; the router picks the depth</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2545"/>
                          </a:solidFill>
                        </a:rPr>
                        <a:t>Understands pushback, “not enough”, asking again</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Yes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Dashboard and action lists without asking</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Command Center, action queues, top 100 accounts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2545"/>
                          </a:solidFill>
                        </a:rPr>
                        <a:t>PII masking, injection blocking, policy checks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On every question and answer</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Per-question audit trace</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9-stage trace: models, tokens, timing</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2545"/>
                          </a:solidFill>
                        </a:rPr>
                        <a:t>Quality, drift, evaluations, cost dashboards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Observability, 8 areas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Users need data and Genie access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Yes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No: one app permission only</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2545"/>
                          </a:solidFill>
                        </a:rPr>
                        <a:t>Answer cache and idle stop</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94A3B8"/>
                          </a:solidFill>
                        </a:rPr>
                        <a:t>No</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E9384"/>
                          </a:solidFill>
                        </a:rPr>
                        <a:t>Yes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B2545"/>
                          </a:solidFill>
                        </a:rPr>
                        <a:t>Repeatable deploy, tested releases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94A3B8"/>
                          </a:solidFill>
                        </a:rPr>
                        <a:t>Manual</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E9384"/>
                          </a:solidFill>
                        </a:rPr>
                        <a:t>One command, automated tests</a:t>
                      </a:r>
                      <a:endParaRPr lang="en-US" sz="1100" dirty="0"/>
                    </a:p>
                  </a:txBody>
                  <a:tcPr marL="64008" marR="64008" marT="64008" marB="6400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Objection panel"/>
          <p:cNvSpPr/>
          <p:nvPr/>
        </p:nvSpPr>
        <p:spPr>
          <a:xfrm>
            <a:off x="8412480" y="1417320"/>
            <a:ext cx="3319272" cy="4754880"/>
          </a:xfrm>
          <a:prstGeom prst="roundRect">
            <a:avLst>
              <a:gd name="adj" fmla="val 4132"/>
            </a:avLst>
          </a:prstGeom>
          <a:solidFill>
            <a:schemeClr val="tx2"/>
          </a:solidFill>
          <a:ln/>
        </p:spPr>
      </p:sp>
      <p:sp>
        <p:nvSpPr>
          <p:cNvPr id="6" name="Objection"/>
          <p:cNvSpPr txBox="1"/>
          <p:nvPr/>
        </p:nvSpPr>
        <p:spPr>
          <a:xfrm>
            <a:off x="8686800" y="1645920"/>
            <a:ext cx="2770632" cy="685800"/>
          </a:xfrm>
          <a:prstGeom prst="rect">
            <a:avLst/>
          </a:prstGeom>
          <a:noFill/>
          <a:ln/>
        </p:spPr>
        <p:txBody>
          <a:bodyPr wrap="square" lIns="0" tIns="0" rIns="0" bIns="0" rtlCol="0" anchor="t"/>
          <a:lstStyle/>
          <a:p>
            <a:pPr indent="0" marL="0">
              <a:buNone/>
            </a:pPr>
            <a:r>
              <a:rPr lang="en-US" sz="1600" b="1" i="1" dirty="0">
                <a:solidFill>
                  <a:schemeClr val="accent2"/>
                </a:solidFill>
              </a:rPr>
              <a:t>“Couldn’t we just build a Genie app?”</a:t>
            </a:r>
            <a:endParaRPr lang="en-US" sz="1600" dirty="0"/>
          </a:p>
        </p:txBody>
      </p:sp>
      <p:sp>
        <p:nvSpPr>
          <p:cNvPr id="7" name="Objection lead"/>
          <p:cNvSpPr txBox="1"/>
          <p:nvPr/>
        </p:nvSpPr>
        <p:spPr>
          <a:xfrm>
            <a:off x="8686800" y="2377440"/>
            <a:ext cx="2770632" cy="548640"/>
          </a:xfrm>
          <a:prstGeom prst="rect">
            <a:avLst/>
          </a:prstGeom>
          <a:noFill/>
          <a:ln/>
        </p:spPr>
        <p:txBody>
          <a:bodyPr wrap="square" lIns="0" tIns="0" rIns="0" bIns="0" rtlCol="0" anchor="t"/>
          <a:lstStyle/>
          <a:p>
            <a:pPr indent="0" marL="0">
              <a:buNone/>
            </a:pPr>
            <a:r>
              <a:rPr lang="en-US" sz="1200" dirty="0">
                <a:solidFill>
                  <a:schemeClr val="bg1"/>
                </a:solidFill>
              </a:rPr>
              <a:t>A Genie app gives you the question box. To match LensS, a team would also build:</a:t>
            </a:r>
            <a:endParaRPr lang="en-US" sz="1200" dirty="0"/>
          </a:p>
        </p:txBody>
      </p:sp>
      <p:sp>
        <p:nvSpPr>
          <p:cNvPr id="8" name="Objection list"/>
          <p:cNvSpPr txBox="1"/>
          <p:nvPr/>
        </p:nvSpPr>
        <p:spPr>
          <a:xfrm>
            <a:off x="8686800" y="2971800"/>
            <a:ext cx="2862072" cy="246888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accent4"/>
                </a:solidFill>
              </a:rPr>
              <a:t>The governed data layer and rules table</a:t>
            </a:r>
            <a:endParaRPr lang="en-US" sz="1150" dirty="0"/>
          </a:p>
          <a:p>
            <a:pPr marL="177800" indent="-177800">
              <a:spcAft>
                <a:spcPts val="500"/>
              </a:spcAft>
              <a:buSzPct val="100000"/>
              <a:buChar char="•"/>
            </a:pPr>
            <a:r>
              <a:rPr lang="en-US" sz="1150" dirty="0">
                <a:solidFill>
                  <a:schemeClr val="accent4"/>
                </a:solidFill>
              </a:rPr>
              <a:t>Answer verification and the AI judge</a:t>
            </a:r>
            <a:endParaRPr lang="en-US" sz="1150" dirty="0"/>
          </a:p>
          <a:p>
            <a:pPr marL="177800" indent="-177800">
              <a:spcAft>
                <a:spcPts val="500"/>
              </a:spcAft>
              <a:buSzPct val="100000"/>
              <a:buChar char="•"/>
            </a:pPr>
            <a:r>
              <a:rPr lang="en-US" sz="1150" dirty="0">
                <a:solidFill>
                  <a:schemeClr val="accent4"/>
                </a:solidFill>
              </a:rPr>
              <a:t>The Quick + Deep router with shared context</a:t>
            </a:r>
            <a:endParaRPr lang="en-US" sz="1150" dirty="0"/>
          </a:p>
          <a:p>
            <a:pPr marL="177800" indent="-177800">
              <a:spcAft>
                <a:spcPts val="500"/>
              </a:spcAft>
              <a:buSzPct val="100000"/>
              <a:buChar char="•"/>
            </a:pPr>
            <a:r>
              <a:rPr lang="en-US" sz="1150" dirty="0">
                <a:solidFill>
                  <a:schemeClr val="accent4"/>
                </a:solidFill>
              </a:rPr>
              <a:t>The Command Center and action logic</a:t>
            </a:r>
            <a:endParaRPr lang="en-US" sz="1150" dirty="0"/>
          </a:p>
          <a:p>
            <a:pPr marL="177800" indent="-177800">
              <a:spcAft>
                <a:spcPts val="500"/>
              </a:spcAft>
              <a:buSzPct val="100000"/>
              <a:buChar char="•"/>
            </a:pPr>
            <a:r>
              <a:rPr lang="en-US" sz="1150" dirty="0">
                <a:solidFill>
                  <a:schemeClr val="accent4"/>
                </a:solidFill>
              </a:rPr>
              <a:t>Guardrails and the Responsible AI view</a:t>
            </a:r>
            <a:endParaRPr lang="en-US" sz="1150" dirty="0"/>
          </a:p>
          <a:p>
            <a:pPr marL="177800" indent="-177800">
              <a:spcAft>
                <a:spcPts val="500"/>
              </a:spcAft>
              <a:buSzPct val="100000"/>
              <a:buChar char="•"/>
            </a:pPr>
            <a:r>
              <a:rPr lang="en-US" sz="1150" dirty="0">
                <a:solidFill>
                  <a:schemeClr val="accent4"/>
                </a:solidFill>
              </a:rPr>
              <a:t>Tracing, evaluations and cost views</a:t>
            </a:r>
            <a:endParaRPr lang="en-US" sz="1150" dirty="0"/>
          </a:p>
          <a:p>
            <a:pPr marL="177800" indent="-177800">
              <a:spcAft>
                <a:spcPts val="500"/>
              </a:spcAft>
              <a:buSzPct val="100000"/>
              <a:buChar char="•"/>
            </a:pPr>
            <a:r>
              <a:rPr lang="en-US" sz="1150" dirty="0">
                <a:solidFill>
                  <a:schemeClr val="accent4"/>
                </a:solidFill>
              </a:rPr>
              <a:t>Access model, cache, idle stop, history</a:t>
            </a:r>
            <a:endParaRPr lang="en-US" sz="1150" dirty="0"/>
          </a:p>
          <a:p>
            <a:pPr marL="177800" indent="-177800">
              <a:spcAft>
                <a:spcPts val="500"/>
              </a:spcAft>
              <a:buSzPct val="100000"/>
              <a:buChar char="•"/>
            </a:pPr>
            <a:r>
              <a:rPr lang="en-US" sz="1150" dirty="0">
                <a:solidFill>
                  <a:schemeClr val="accent4"/>
                </a:solidFill>
              </a:rPr>
              <a:t>Deploy and test automation</a:t>
            </a:r>
            <a:endParaRPr lang="en-US" sz="1150" dirty="0"/>
          </a:p>
        </p:txBody>
      </p:sp>
      <p:sp>
        <p:nvSpPr>
          <p:cNvPr id="9" name="Objection close"/>
          <p:cNvSpPr txBox="1"/>
          <p:nvPr/>
        </p:nvSpPr>
        <p:spPr>
          <a:xfrm>
            <a:off x="8686800" y="5486400"/>
            <a:ext cx="2770632" cy="502920"/>
          </a:xfrm>
          <a:prstGeom prst="rect">
            <a:avLst/>
          </a:prstGeom>
          <a:noFill/>
          <a:ln/>
        </p:spPr>
        <p:txBody>
          <a:bodyPr wrap="square" lIns="0" tIns="0" rIns="0" bIns="0" rtlCol="0" anchor="ctr"/>
          <a:lstStyle/>
          <a:p>
            <a:pPr indent="0" marL="0">
              <a:buNone/>
            </a:pPr>
            <a:r>
              <a:rPr lang="en-US" sz="1300" b="1" dirty="0">
                <a:solidFill>
                  <a:schemeClr val="bg1"/>
                </a:solidFill>
              </a:rPr>
              <a:t>That is the product. Genie is one component of it.</a:t>
            </a:r>
            <a:endParaRPr lang="en-US" sz="1300" dirty="0"/>
          </a:p>
        </p:txBody>
      </p:sp>
      <p:sp>
        <p:nvSpPr>
          <p:cNvPr id="25" name="Slide Number Placeholder 0"/>
          <p:cNvSpPr>
            <a:spLocks noGrp="1"/>
          </p:cNvSpPr>
          <p:nvPr>
            <p:ph type="sldNum" sz="quarter" idx="4294967295"/>
          </p:nvPr>
        </p:nvSpPr>
        <p:spPr>
          <a:xfrm>
            <a:off x="11274552"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LensS">
  <a:themeElements>
    <a:clrScheme name="LensS">
      <a:dk1>
        <a:srgbClr val="0F172A"/>
      </a:dk1>
      <a:lt1>
        <a:srgbClr val="FFFFFF"/>
      </a:lt1>
      <a:dk2>
        <a:srgbClr val="0B2545"/>
      </a:dk2>
      <a:lt2>
        <a:srgbClr val="F1F5F9"/>
      </a:lt2>
      <a:accent1>
        <a:srgbClr val="0E9384"/>
      </a:accent1>
      <a:accent2>
        <a:srgbClr val="25E2CC"/>
      </a:accent2>
      <a:accent3>
        <a:srgbClr val="13315C"/>
      </a:accent3>
      <a:accent4>
        <a:srgbClr val="C9DCE6"/>
      </a:accent4>
      <a:accent5>
        <a:srgbClr val="64748B"/>
      </a:accent5>
      <a:accent6>
        <a:srgbClr val="E3F8F5"/>
      </a:accent6>
      <a:hlink>
        <a:srgbClr val="0E9384"/>
      </a:hlink>
      <a:folHlink>
        <a:srgbClr val="13315C"/>
      </a:folHlink>
    </a:clrScheme>
    <a:fontScheme name="Len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Concentrix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LensS vs Genie</dc:title>
  <dc:subject>PptxGenJS Presentation</dc:subject>
  <dc:creator>Concentrix Data &amp;amp; Analytics Practice</dc:creator>
  <cp:lastModifiedBy>Concentrix Data &amp;amp; Analytics Practice</cp:lastModifiedBy>
  <cp:revision>1</cp:revision>
  <dcterms:created xsi:type="dcterms:W3CDTF">2026-10-15T07:56:21Z</dcterms:created>
  <dcterms:modified xsi:type="dcterms:W3CDTF">2026-10-15T07:56:21Z</dcterms:modified>
</cp:coreProperties>
</file>